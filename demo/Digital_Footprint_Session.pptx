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2692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sit on screen while students settle in. Then move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Say each line and pause for hands to go up.
After line 3, switch to the browser and start the live demo. The next slide is only a cue card for you, the demo happens live.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transition. Say: 'Let's find out.' Then switch to the browser for the live demo.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5 minutes for the demo itself.
Test this on your own laptop the night before. If you run an ad blocker or a browser like Brave or privacy-focused Firefox, you may see a message saying you are already protected instead of the more striking unique fingerprint result. Switch browsers or profiles beforehand if needed, and take a screenshot of a working result as backup in case the venue Wi-Fi blocks the test.
On the results page, read the three lines out loud: Blocking tracking ads, No. Blocking invisible trackers, No. Protecting from fingerprinting, your browser has a unique fingerprint. If the page shows a number of browsers tested in the past weeks and none matched, read that number out loud too. Do not scroll into the detailed technical sections on the page, they are long paragraphs and will lose the room. Move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3 minutes.
Read the four points plainly, one at a time. If a student asks who can use this, keep the answer short: mainly advertisers who want to follow you across websites, and websites themselves checking for returning visitors or bots. Governments can also access data in some cases, through legal requests that vary by country, but do not turn this into a long side conversation, keep it to one sentence and move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transition, about 30 seconds.
Say: Hamza is not a real person, I made him up for this exercise. But every post you are about to see is the kind of thing real people post every 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to explain the rules, then show the six post slides, then 10 minutes of team work.
Say: Hamza is 16 years old and fictional. Everything you are about to see is exactly the kind of thing real people post. You are a stranger who has never met him. Using only what is on these slides, find six things. Read the six targets out loud once, then move to the posts.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 only, do not read this out loud while teams are working: The blazer crest shows his school. Teams should name the specific school.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 only, do not read this out loud while teams are working: Shows a weekly Friday afternoon routine and a rough time, after Asr prayer. Combined with post 4, a stranger can guess which ground is the usual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 only, do not read this out loud while teams are working: Shows his exact age, 16, and his exact birth date, July 14. Posts from other people about you are still part of your footprint, that is the point of including this 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 only, do not read this out loud while teams are working: The shop sign in the background names the exact street and neighborhood. Students often miss background details on the first look, that is intentional.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 only, do not read this out loud while teams are working: Shows a specific valuable item he owns and its model. This connects to physical safety and theft risk, not only privacy.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 only, do not read this out loud while teams are working: A second weekly routine with a place and a rough time, after Zuhr prayer. Two separate routines is what makes finding him possible with confidence, not just a guess.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5 minutes.
Let each team say what they found first, before you show this slide. Use this table to confirm answers and fill gaps, not as the opening move. Most teams will find four or five of the six on their own, which proves the point.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 minute. Deliver this slowly. Let it sit for a moment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10 minutes combined.
Search yourself, not a student. You cannot control what shows up for someone else, and that is a real risk with minors in the room.
Test your throwaway or old email on haveibeenpwned tonight, to make sure it actually shows a breach. An empty result falls flat live.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5 minutes to close.
Say the spine question once more, then connect it forward: your footprint is what other people use to decide whether to trust you. That is the same question we will ask about AI, deepfakes, and misinformation this week. End the session here.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2286000"/>
            <a:ext cx="10698480" cy="109728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Digital Footprint</a:t>
            </a:r>
            <a:endParaRPr lang="en-US" sz="5000" dirty="0"/>
          </a:p>
        </p:txBody>
      </p:sp>
      <p:sp>
        <p:nvSpPr>
          <p:cNvPr id="3" name="Text 1"/>
          <p:cNvSpPr/>
          <p:nvPr/>
        </p:nvSpPr>
        <p:spPr>
          <a:xfrm>
            <a:off x="731520" y="3291840"/>
            <a:ext cx="10698480" cy="548640"/>
          </a:xfrm>
          <a:prstGeom prst="rect">
            <a:avLst/>
          </a:prstGeom>
          <a:noFill/>
          <a:ln/>
        </p:spPr>
        <p:txBody>
          <a:bodyPr wrap="square" lIns="0" tIns="0" rIns="0" bIns="0"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Can you trust this, and how do you check?</a:t>
            </a:r>
            <a:endParaRPr lang="en-US" sz="2000" dirty="0"/>
          </a:p>
        </p:txBody>
      </p:sp>
      <p:sp>
        <p:nvSpPr>
          <p:cNvPr id="4" name="Text 2"/>
          <p:cNvSpPr/>
          <p:nvPr/>
        </p:nvSpPr>
        <p:spPr>
          <a:xfrm>
            <a:off x="731520" y="4297680"/>
            <a:ext cx="1069848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AI, Innovation and Digital Literacy Summer Camp 2026</a:t>
            </a:r>
            <a:endParaRPr lang="en-US" sz="1500" dirty="0"/>
          </a:p>
        </p:txBody>
      </p:sp>
      <p:sp>
        <p:nvSpPr>
          <p:cNvPr id="5" name="Text 3"/>
          <p:cNvSpPr/>
          <p:nvPr/>
        </p:nvSpPr>
        <p:spPr>
          <a:xfrm>
            <a:off x="731520" y="4663440"/>
            <a:ext cx="1069848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Lincoln Corner Peshawar   Day 1, Session 1   Facilitator: Abdul Ahad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OPENING QUESTION</a:t>
            </a:r>
            <a:endParaRPr lang="en-US" sz="1300" dirty="0"/>
          </a:p>
        </p:txBody>
      </p:sp>
      <p:sp>
        <p:nvSpPr>
          <p:cNvPr id="3" name="Text 1"/>
          <p:cNvSpPr/>
          <p:nvPr/>
        </p:nvSpPr>
        <p:spPr>
          <a:xfrm>
            <a:off x="731520" y="1005840"/>
            <a:ext cx="1069848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Are you invisible online?</a:t>
            </a:r>
            <a:endParaRPr lang="en-US" sz="3800" dirty="0"/>
          </a:p>
        </p:txBody>
      </p:sp>
      <p:sp>
        <p:nvSpPr>
          <p:cNvPr id="4" name="Shape 2"/>
          <p:cNvSpPr/>
          <p:nvPr/>
        </p:nvSpPr>
        <p:spPr>
          <a:xfrm>
            <a:off x="731520" y="2286000"/>
            <a:ext cx="457200" cy="457200"/>
          </a:xfrm>
          <a:prstGeom prst="ellipse">
            <a:avLst/>
          </a:prstGeom>
          <a:solidFill>
            <a:srgbClr val="FF6B35"/>
          </a:solidFill>
          <a:ln/>
        </p:spPr>
        <p:txBody>
          <a:bodyPr/>
          <a:lstStyle/>
          <a:p>
            <a:endParaRPr lang="en-US"/>
          </a:p>
        </p:txBody>
      </p:sp>
      <p:sp>
        <p:nvSpPr>
          <p:cNvPr id="5" name="Text 3"/>
          <p:cNvSpPr/>
          <p:nvPr/>
        </p:nvSpPr>
        <p:spPr>
          <a:xfrm>
            <a:off x="731520" y="22860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417320" y="2240280"/>
            <a:ext cx="9829800" cy="54864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Raise your hand if you have ever filled a form, made an account, or downloaded an app.</a:t>
            </a:r>
            <a:endParaRPr lang="en-US" sz="1800" dirty="0"/>
          </a:p>
        </p:txBody>
      </p:sp>
      <p:sp>
        <p:nvSpPr>
          <p:cNvPr id="7" name="Shape 5"/>
          <p:cNvSpPr/>
          <p:nvPr/>
        </p:nvSpPr>
        <p:spPr>
          <a:xfrm>
            <a:off x="731520" y="3246120"/>
            <a:ext cx="457200" cy="457200"/>
          </a:xfrm>
          <a:prstGeom prst="ellipse">
            <a:avLst/>
          </a:prstGeom>
          <a:solidFill>
            <a:srgbClr val="FF6B35"/>
          </a:solidFill>
          <a:ln/>
        </p:spPr>
        <p:txBody>
          <a:bodyPr/>
          <a:lstStyle/>
          <a:p>
            <a:endParaRPr lang="en-US"/>
          </a:p>
        </p:txBody>
      </p:sp>
      <p:sp>
        <p:nvSpPr>
          <p:cNvPr id="8" name="Text 6"/>
          <p:cNvSpPr/>
          <p:nvPr/>
        </p:nvSpPr>
        <p:spPr>
          <a:xfrm>
            <a:off x="731520" y="32461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417320" y="3200400"/>
            <a:ext cx="9829800" cy="54864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Keep your hand up if you have used private or incognito mode, thinking it makes you invisible.</a:t>
            </a:r>
            <a:endParaRPr lang="en-US" sz="1800" dirty="0"/>
          </a:p>
        </p:txBody>
      </p:sp>
      <p:sp>
        <p:nvSpPr>
          <p:cNvPr id="10" name="Shape 8"/>
          <p:cNvSpPr/>
          <p:nvPr/>
        </p:nvSpPr>
        <p:spPr>
          <a:xfrm>
            <a:off x="731520" y="4206240"/>
            <a:ext cx="457200" cy="457200"/>
          </a:xfrm>
          <a:prstGeom prst="ellipse">
            <a:avLst/>
          </a:prstGeom>
          <a:solidFill>
            <a:srgbClr val="FF6B35"/>
          </a:solidFill>
          <a:ln/>
        </p:spPr>
        <p:txBody>
          <a:bodyPr/>
          <a:lstStyle/>
          <a:p>
            <a:endParaRPr lang="en-US"/>
          </a:p>
        </p:txBody>
      </p:sp>
      <p:sp>
        <p:nvSpPr>
          <p:cNvPr id="11" name="Text 9"/>
          <p:cNvSpPr/>
          <p:nvPr/>
        </p:nvSpPr>
        <p:spPr>
          <a:xfrm>
            <a:off x="731520" y="42062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417320" y="4160520"/>
            <a:ext cx="9829800" cy="54864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This laptop has no account logged in and nothing typed into it. I am about to show you it can still be told apart from hundreds of thousands of other devices.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2468880"/>
            <a:ext cx="10698480" cy="457200"/>
          </a:xfrm>
          <a:prstGeom prst="rect">
            <a:avLst/>
          </a:prstGeom>
          <a:noFill/>
          <a:ln/>
        </p:spPr>
        <p:txBody>
          <a:bodyPr wrap="square" lIns="0" tIns="0" rIns="0" bIns="0" rtlCol="0" anchor="ctr"/>
          <a:lstStyle/>
          <a:p>
            <a:pPr marL="0" indent="0">
              <a:buNone/>
            </a:pPr>
            <a:r>
              <a:rPr lang="en-US" sz="1600" b="1" kern="0" spc="300" dirty="0">
                <a:solidFill>
                  <a:srgbClr val="FF6B35"/>
                </a:solidFill>
                <a:latin typeface="Calibri" pitchFamily="34" charset="0"/>
                <a:ea typeface="Calibri" pitchFamily="34" charset="-122"/>
                <a:cs typeface="Calibri" pitchFamily="34" charset="-120"/>
              </a:rPr>
              <a:t>PART 1</a:t>
            </a:r>
            <a:endParaRPr lang="en-US" sz="1600" dirty="0"/>
          </a:p>
        </p:txBody>
      </p:sp>
      <p:sp>
        <p:nvSpPr>
          <p:cNvPr id="3" name="Text 1"/>
          <p:cNvSpPr/>
          <p:nvPr/>
        </p:nvSpPr>
        <p:spPr>
          <a:xfrm>
            <a:off x="731520" y="2926080"/>
            <a:ext cx="10698480" cy="16459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Can a machine tell your device apart</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from other devices without you logging in?</a:t>
            </a:r>
            <a:endParaRPr lang="en-US" sz="3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LIVE DEMO</a:t>
            </a:r>
            <a:endParaRPr lang="en-US" sz="1300" dirty="0"/>
          </a:p>
        </p:txBody>
      </p:sp>
      <p:sp>
        <p:nvSpPr>
          <p:cNvPr id="3" name="Text 1"/>
          <p:cNvSpPr/>
          <p:nvPr/>
        </p:nvSpPr>
        <p:spPr>
          <a:xfrm>
            <a:off x="731520" y="914400"/>
            <a:ext cx="10698480" cy="914400"/>
          </a:xfrm>
          <a:prstGeom prst="rect">
            <a:avLst/>
          </a:prstGeom>
          <a:noFill/>
          <a:ln/>
        </p:spPr>
        <p:txBody>
          <a:bodyPr wrap="square" lIns="0" tIns="0" rIns="0" bIns="0" rtlCol="0" anchor="ctr"/>
          <a:lstStyle/>
          <a:p>
            <a:pPr marL="0" indent="0">
              <a:buNone/>
            </a:pPr>
            <a:r>
              <a:rPr lang="en-US" sz="3800" b="1" dirty="0">
                <a:solidFill>
                  <a:srgbClr val="1E2761"/>
                </a:solidFill>
                <a:latin typeface="Courier New" pitchFamily="34" charset="0"/>
                <a:ea typeface="Courier New" pitchFamily="34" charset="-122"/>
                <a:cs typeface="Courier New" pitchFamily="34" charset="-120"/>
              </a:rPr>
              <a:t>coveryourtracks.eff.org</a:t>
            </a:r>
            <a:endParaRPr lang="en-US" sz="3800" dirty="0"/>
          </a:p>
        </p:txBody>
      </p:sp>
      <p:sp>
        <p:nvSpPr>
          <p:cNvPr id="4" name="Shape 2"/>
          <p:cNvSpPr/>
          <p:nvPr/>
        </p:nvSpPr>
        <p:spPr>
          <a:xfrm>
            <a:off x="731520" y="2194560"/>
            <a:ext cx="457200" cy="457200"/>
          </a:xfrm>
          <a:prstGeom prst="ellipse">
            <a:avLst/>
          </a:prstGeom>
          <a:solidFill>
            <a:srgbClr val="1E2761"/>
          </a:solidFill>
          <a:ln/>
        </p:spPr>
        <p:txBody>
          <a:bodyPr/>
          <a:lstStyle/>
          <a:p>
            <a:endParaRPr lang="en-US"/>
          </a:p>
        </p:txBody>
      </p:sp>
      <p:sp>
        <p:nvSpPr>
          <p:cNvPr id="5" name="Text 3"/>
          <p:cNvSpPr/>
          <p:nvPr/>
        </p:nvSpPr>
        <p:spPr>
          <a:xfrm>
            <a:off x="731520" y="21945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417320" y="2148840"/>
            <a:ext cx="9829800" cy="548640"/>
          </a:xfrm>
          <a:prstGeom prst="rect">
            <a:avLst/>
          </a:prstGeom>
          <a:noFill/>
          <a:ln/>
        </p:spPr>
        <p:txBody>
          <a:bodyPr wrap="square" lIns="0" tIns="0" rIns="0" bIns="0" rtlCol="0" anchor="ctr"/>
          <a:lstStyle/>
          <a:p>
            <a:pPr marL="0" indent="0">
              <a:buNone/>
            </a:pPr>
            <a:r>
              <a:rPr lang="en-US" sz="1700" dirty="0">
                <a:solidFill>
                  <a:srgbClr val="1E2761"/>
                </a:solidFill>
                <a:latin typeface="Calibri" pitchFamily="34" charset="0"/>
                <a:ea typeface="Calibri" pitchFamily="34" charset="-122"/>
                <a:cs typeface="Calibri" pitchFamily="34" charset="-120"/>
              </a:rPr>
              <a:t>Open a new tab.</a:t>
            </a:r>
            <a:endParaRPr lang="en-US" sz="1700" dirty="0"/>
          </a:p>
        </p:txBody>
      </p:sp>
      <p:sp>
        <p:nvSpPr>
          <p:cNvPr id="7" name="Shape 5"/>
          <p:cNvSpPr/>
          <p:nvPr/>
        </p:nvSpPr>
        <p:spPr>
          <a:xfrm>
            <a:off x="731520" y="3108960"/>
            <a:ext cx="457200" cy="457200"/>
          </a:xfrm>
          <a:prstGeom prst="ellipse">
            <a:avLst/>
          </a:prstGeom>
          <a:solidFill>
            <a:srgbClr val="1E2761"/>
          </a:solidFill>
          <a:ln/>
        </p:spPr>
        <p:txBody>
          <a:bodyPr/>
          <a:lstStyle/>
          <a:p>
            <a:endParaRPr lang="en-US"/>
          </a:p>
        </p:txBody>
      </p:sp>
      <p:sp>
        <p:nvSpPr>
          <p:cNvPr id="8" name="Text 6"/>
          <p:cNvSpPr/>
          <p:nvPr/>
        </p:nvSpPr>
        <p:spPr>
          <a:xfrm>
            <a:off x="731520" y="3108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417320" y="3063240"/>
            <a:ext cx="9829800" cy="548640"/>
          </a:xfrm>
          <a:prstGeom prst="rect">
            <a:avLst/>
          </a:prstGeom>
          <a:noFill/>
          <a:ln/>
        </p:spPr>
        <p:txBody>
          <a:bodyPr wrap="square" lIns="0" tIns="0" rIns="0" bIns="0" rtlCol="0" anchor="ctr"/>
          <a:lstStyle/>
          <a:p>
            <a:pPr marL="0" indent="0">
              <a:buNone/>
            </a:pPr>
            <a:r>
              <a:rPr lang="en-US" sz="1700" dirty="0">
                <a:solidFill>
                  <a:srgbClr val="1E2761"/>
                </a:solidFill>
                <a:latin typeface="Calibri" pitchFamily="34" charset="0"/>
                <a:ea typeface="Calibri" pitchFamily="34" charset="-122"/>
                <a:cs typeface="Calibri" pitchFamily="34" charset="-120"/>
              </a:rPr>
              <a:t>No account, no password, nothing typed in. Let's see what it finds anyway.</a:t>
            </a:r>
            <a:endParaRPr lang="en-US" sz="1700" dirty="0"/>
          </a:p>
        </p:txBody>
      </p:sp>
      <p:sp>
        <p:nvSpPr>
          <p:cNvPr id="10" name="Shape 8"/>
          <p:cNvSpPr/>
          <p:nvPr/>
        </p:nvSpPr>
        <p:spPr>
          <a:xfrm>
            <a:off x="731520" y="4023360"/>
            <a:ext cx="457200" cy="457200"/>
          </a:xfrm>
          <a:prstGeom prst="ellipse">
            <a:avLst/>
          </a:prstGeom>
          <a:solidFill>
            <a:srgbClr val="1E2761"/>
          </a:solidFill>
          <a:ln/>
        </p:spPr>
        <p:txBody>
          <a:bodyPr/>
          <a:lstStyle/>
          <a:p>
            <a:endParaRPr lang="en-US"/>
          </a:p>
        </p:txBody>
      </p:sp>
      <p:sp>
        <p:nvSpPr>
          <p:cNvPr id="11" name="Text 9"/>
          <p:cNvSpPr/>
          <p:nvPr/>
        </p:nvSpPr>
        <p:spPr>
          <a:xfrm>
            <a:off x="731520" y="40233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417320" y="3977640"/>
            <a:ext cx="9829800" cy="548640"/>
          </a:xfrm>
          <a:prstGeom prst="rect">
            <a:avLst/>
          </a:prstGeom>
          <a:noFill/>
          <a:ln/>
        </p:spPr>
        <p:txBody>
          <a:bodyPr wrap="square" lIns="0" tIns="0" rIns="0" bIns="0" rtlCol="0" anchor="ctr"/>
          <a:lstStyle/>
          <a:p>
            <a:pPr marL="0" indent="0">
              <a:buNone/>
            </a:pPr>
            <a:r>
              <a:rPr lang="en-US" sz="1700" dirty="0">
                <a:solidFill>
                  <a:srgbClr val="1E2761"/>
                </a:solidFill>
                <a:latin typeface="Calibri" pitchFamily="34" charset="0"/>
                <a:ea typeface="Calibri" pitchFamily="34" charset="-122"/>
                <a:cs typeface="Calibri" pitchFamily="34" charset="-120"/>
              </a:rPr>
              <a:t>Click Test Your Browser. Let it load for a few seconds without talking.</a:t>
            </a:r>
            <a:endParaRPr lang="en-US" sz="1700" dirty="0"/>
          </a:p>
        </p:txBody>
      </p:sp>
      <p:sp>
        <p:nvSpPr>
          <p:cNvPr id="13" name="Text 11"/>
          <p:cNvSpPr/>
          <p:nvPr/>
        </p:nvSpPr>
        <p:spPr>
          <a:xfrm>
            <a:off x="731520" y="5120640"/>
            <a:ext cx="10698480" cy="457200"/>
          </a:xfrm>
          <a:prstGeom prst="rect">
            <a:avLst/>
          </a:prstGeom>
          <a:noFill/>
          <a:ln/>
        </p:spPr>
        <p:txBody>
          <a:bodyPr wrap="square" lIns="0" tIns="0" rIns="0" bIns="0" rtlCol="0" anchor="ctr"/>
          <a:lstStyle/>
          <a:p>
            <a:pPr marL="0" indent="0">
              <a:buNone/>
            </a:pP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WHAT JUST HAPPENED</a:t>
            </a:r>
            <a:endParaRPr lang="en-US" sz="1300" dirty="0"/>
          </a:p>
        </p:txBody>
      </p:sp>
      <p:sp>
        <p:nvSpPr>
          <p:cNvPr id="3" name="Text 1"/>
          <p:cNvSpPr/>
          <p:nvPr/>
        </p:nvSpPr>
        <p:spPr>
          <a:xfrm>
            <a:off x="731520" y="914400"/>
            <a:ext cx="1069848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website could tell this device apart from others.</a:t>
            </a:r>
            <a:endParaRPr lang="en-US" sz="2800" dirty="0"/>
          </a:p>
        </p:txBody>
      </p:sp>
      <p:sp>
        <p:nvSpPr>
          <p:cNvPr id="4" name="Shape 2"/>
          <p:cNvSpPr/>
          <p:nvPr/>
        </p:nvSpPr>
        <p:spPr>
          <a:xfrm>
            <a:off x="731520" y="1965960"/>
            <a:ext cx="457200" cy="457200"/>
          </a:xfrm>
          <a:prstGeom prst="ellipse">
            <a:avLst/>
          </a:prstGeom>
          <a:solidFill>
            <a:srgbClr val="1E2761"/>
          </a:solidFill>
          <a:ln/>
        </p:spPr>
        <p:txBody>
          <a:bodyPr/>
          <a:lstStyle/>
          <a:p>
            <a:endParaRPr lang="en-US"/>
          </a:p>
        </p:txBody>
      </p:sp>
      <p:sp>
        <p:nvSpPr>
          <p:cNvPr id="5" name="Text 3"/>
          <p:cNvSpPr/>
          <p:nvPr/>
        </p:nvSpPr>
        <p:spPr>
          <a:xfrm>
            <a:off x="731520" y="1965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417320" y="1920240"/>
            <a:ext cx="9829800" cy="548640"/>
          </a:xfrm>
          <a:prstGeom prst="rect">
            <a:avLst/>
          </a:prstGeom>
          <a:noFill/>
          <a:ln/>
        </p:spPr>
        <p:txBody>
          <a:bodyPr wrap="square" lIns="0" tIns="0" rIns="0" bIns="0" rtlCol="0" anchor="ctr"/>
          <a:lstStyle/>
          <a:p>
            <a:pPr marL="0" indent="0">
              <a:buNone/>
            </a:pPr>
            <a:r>
              <a:rPr lang="en-US" sz="1600" dirty="0">
                <a:solidFill>
                  <a:srgbClr val="1E2761"/>
                </a:solidFill>
                <a:latin typeface="Calibri" pitchFamily="34" charset="0"/>
                <a:ea typeface="Calibri" pitchFamily="34" charset="-122"/>
                <a:cs typeface="Calibri" pitchFamily="34" charset="-120"/>
              </a:rPr>
              <a:t>This browser automatically shared basic details: screen size, fonts, timezone, and graphics settings.</a:t>
            </a:r>
            <a:endParaRPr lang="en-US" sz="1600" dirty="0"/>
          </a:p>
        </p:txBody>
      </p:sp>
      <p:sp>
        <p:nvSpPr>
          <p:cNvPr id="7" name="Shape 5"/>
          <p:cNvSpPr/>
          <p:nvPr/>
        </p:nvSpPr>
        <p:spPr>
          <a:xfrm>
            <a:off x="731520" y="2743200"/>
            <a:ext cx="457200" cy="457200"/>
          </a:xfrm>
          <a:prstGeom prst="ellipse">
            <a:avLst/>
          </a:prstGeom>
          <a:solidFill>
            <a:srgbClr val="1E2761"/>
          </a:solidFill>
          <a:ln/>
        </p:spPr>
        <p:txBody>
          <a:bodyPr/>
          <a:lstStyle/>
          <a:p>
            <a:endParaRPr lang="en-US"/>
          </a:p>
        </p:txBody>
      </p:sp>
      <p:sp>
        <p:nvSpPr>
          <p:cNvPr id="8" name="Text 6"/>
          <p:cNvSpPr/>
          <p:nvPr/>
        </p:nvSpPr>
        <p:spPr>
          <a:xfrm>
            <a:off x="731520" y="2743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417320" y="2697480"/>
            <a:ext cx="9829800" cy="548640"/>
          </a:xfrm>
          <a:prstGeom prst="rect">
            <a:avLst/>
          </a:prstGeom>
          <a:noFill/>
          <a:ln/>
        </p:spPr>
        <p:txBody>
          <a:bodyPr wrap="square" lIns="0" tIns="0" rIns="0" bIns="0" rtlCol="0" anchor="ctr"/>
          <a:lstStyle/>
          <a:p>
            <a:pPr marL="0" indent="0">
              <a:buNone/>
            </a:pPr>
            <a:r>
              <a:rPr lang="en-US" sz="1600" dirty="0">
                <a:solidFill>
                  <a:srgbClr val="1E2761"/>
                </a:solidFill>
                <a:latin typeface="Calibri" pitchFamily="34" charset="0"/>
                <a:ea typeface="Calibri" pitchFamily="34" charset="-122"/>
                <a:cs typeface="Calibri" pitchFamily="34" charset="-120"/>
              </a:rPr>
              <a:t>These details combine into a pattern that is different for almost every device.</a:t>
            </a:r>
            <a:endParaRPr lang="en-US" sz="1600" dirty="0"/>
          </a:p>
        </p:txBody>
      </p:sp>
      <p:sp>
        <p:nvSpPr>
          <p:cNvPr id="10" name="Shape 8"/>
          <p:cNvSpPr/>
          <p:nvPr/>
        </p:nvSpPr>
        <p:spPr>
          <a:xfrm>
            <a:off x="731520" y="3520440"/>
            <a:ext cx="457200" cy="457200"/>
          </a:xfrm>
          <a:prstGeom prst="ellipse">
            <a:avLst/>
          </a:prstGeom>
          <a:solidFill>
            <a:srgbClr val="1E2761"/>
          </a:solidFill>
          <a:ln/>
        </p:spPr>
        <p:txBody>
          <a:bodyPr/>
          <a:lstStyle/>
          <a:p>
            <a:endParaRPr lang="en-US"/>
          </a:p>
        </p:txBody>
      </p:sp>
      <p:sp>
        <p:nvSpPr>
          <p:cNvPr id="11" name="Text 9"/>
          <p:cNvSpPr/>
          <p:nvPr/>
        </p:nvSpPr>
        <p:spPr>
          <a:xfrm>
            <a:off x="731520" y="35204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417320" y="3474720"/>
            <a:ext cx="9829800" cy="548640"/>
          </a:xfrm>
          <a:prstGeom prst="rect">
            <a:avLst/>
          </a:prstGeom>
          <a:noFill/>
          <a:ln/>
        </p:spPr>
        <p:txBody>
          <a:bodyPr wrap="square" lIns="0" tIns="0" rIns="0" bIns="0" rtlCol="0" anchor="ctr"/>
          <a:lstStyle/>
          <a:p>
            <a:pPr marL="0" indent="0">
              <a:buNone/>
            </a:pPr>
            <a:r>
              <a:rPr lang="en-US" sz="1600" dirty="0">
                <a:solidFill>
                  <a:srgbClr val="1E2761"/>
                </a:solidFill>
                <a:latin typeface="Calibri" pitchFamily="34" charset="0"/>
                <a:ea typeface="Calibri" pitchFamily="34" charset="-122"/>
                <a:cs typeface="Calibri" pitchFamily="34" charset="-120"/>
              </a:rPr>
              <a:t>This pattern is called a device fingerprint.</a:t>
            </a:r>
            <a:endParaRPr lang="en-US" sz="1600" dirty="0"/>
          </a:p>
        </p:txBody>
      </p:sp>
      <p:sp>
        <p:nvSpPr>
          <p:cNvPr id="13" name="Shape 11"/>
          <p:cNvSpPr/>
          <p:nvPr/>
        </p:nvSpPr>
        <p:spPr>
          <a:xfrm>
            <a:off x="731520" y="4297680"/>
            <a:ext cx="457200" cy="457200"/>
          </a:xfrm>
          <a:prstGeom prst="ellipse">
            <a:avLst/>
          </a:prstGeom>
          <a:solidFill>
            <a:srgbClr val="1E2761"/>
          </a:solidFill>
          <a:ln/>
        </p:spPr>
        <p:txBody>
          <a:bodyPr/>
          <a:lstStyle/>
          <a:p>
            <a:endParaRPr lang="en-US"/>
          </a:p>
        </p:txBody>
      </p:sp>
      <p:sp>
        <p:nvSpPr>
          <p:cNvPr id="14" name="Text 12"/>
          <p:cNvSpPr/>
          <p:nvPr/>
        </p:nvSpPr>
        <p:spPr>
          <a:xfrm>
            <a:off x="731520" y="42976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5" name="Text 13"/>
          <p:cNvSpPr/>
          <p:nvPr/>
        </p:nvSpPr>
        <p:spPr>
          <a:xfrm>
            <a:off x="1417320" y="4251960"/>
            <a:ext cx="9829800" cy="548640"/>
          </a:xfrm>
          <a:prstGeom prst="rect">
            <a:avLst/>
          </a:prstGeom>
          <a:noFill/>
          <a:ln/>
        </p:spPr>
        <p:txBody>
          <a:bodyPr wrap="square" lIns="0" tIns="0" rIns="0" bIns="0" rtlCol="0" anchor="ctr"/>
          <a:lstStyle/>
          <a:p>
            <a:pPr marL="0" indent="0">
              <a:buNone/>
            </a:pPr>
            <a:r>
              <a:rPr lang="en-US" sz="1600" dirty="0">
                <a:solidFill>
                  <a:srgbClr val="1E2761"/>
                </a:solidFill>
                <a:latin typeface="Calibri" pitchFamily="34" charset="0"/>
                <a:ea typeface="Calibri" pitchFamily="34" charset="-122"/>
                <a:cs typeface="Calibri" pitchFamily="34" charset="-120"/>
              </a:rPr>
              <a:t>No account, no password, and no cookies were needed for the website to notice this device.</a:t>
            </a:r>
            <a:endParaRPr lang="en-US" sz="1600" dirty="0"/>
          </a:p>
        </p:txBody>
      </p:sp>
      <p:sp>
        <p:nvSpPr>
          <p:cNvPr id="16" name="Shape 14"/>
          <p:cNvSpPr/>
          <p:nvPr/>
        </p:nvSpPr>
        <p:spPr>
          <a:xfrm>
            <a:off x="731520" y="5257800"/>
            <a:ext cx="10698480" cy="822960"/>
          </a:xfrm>
          <a:prstGeom prst="roundRect">
            <a:avLst>
              <a:gd name="adj" fmla="val 8889"/>
            </a:avLst>
          </a:prstGeom>
          <a:solidFill>
            <a:srgbClr val="F4F6FB"/>
          </a:solidFill>
          <a:ln/>
        </p:spPr>
        <p:txBody>
          <a:bodyPr/>
          <a:lstStyle/>
          <a:p>
            <a:endParaRPr lang="en-US"/>
          </a:p>
        </p:txBody>
      </p:sp>
      <p:sp>
        <p:nvSpPr>
          <p:cNvPr id="17" name="Text 15"/>
          <p:cNvSpPr/>
          <p:nvPr/>
        </p:nvSpPr>
        <p:spPr>
          <a:xfrm>
            <a:off x="1005840" y="5257800"/>
            <a:ext cx="10149840" cy="8229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This is not hacking. This is normal browser behavior that most people do not know about.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2468880"/>
            <a:ext cx="10698480" cy="457200"/>
          </a:xfrm>
          <a:prstGeom prst="rect">
            <a:avLst/>
          </a:prstGeom>
          <a:noFill/>
          <a:ln/>
        </p:spPr>
        <p:txBody>
          <a:bodyPr wrap="square" lIns="0" tIns="0" rIns="0" bIns="0" rtlCol="0" anchor="ctr"/>
          <a:lstStyle/>
          <a:p>
            <a:pPr marL="0" indent="0">
              <a:buNone/>
            </a:pPr>
            <a:r>
              <a:rPr lang="en-US" sz="1600" b="1" kern="0" spc="300" dirty="0">
                <a:solidFill>
                  <a:srgbClr val="FF6B35"/>
                </a:solidFill>
                <a:latin typeface="Calibri" pitchFamily="34" charset="0"/>
                <a:ea typeface="Calibri" pitchFamily="34" charset="-122"/>
                <a:cs typeface="Calibri" pitchFamily="34" charset="-120"/>
              </a:rPr>
              <a:t>PART 2</a:t>
            </a:r>
            <a:endParaRPr lang="en-US" sz="1600" dirty="0"/>
          </a:p>
        </p:txBody>
      </p:sp>
      <p:sp>
        <p:nvSpPr>
          <p:cNvPr id="3" name="Text 1"/>
          <p:cNvSpPr/>
          <p:nvPr/>
        </p:nvSpPr>
        <p:spPr>
          <a:xfrm>
            <a:off x="731520" y="2926080"/>
            <a:ext cx="10698480" cy="16459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Meet Hamza.</a:t>
            </a:r>
            <a:endParaRPr lang="en-US" sz="3800" dirty="0"/>
          </a:p>
          <a:p>
            <a:pPr marL="0" indent="0">
              <a:buNone/>
            </a:pPr>
            <a:r>
              <a:rPr lang="en-US" sz="3800" b="1" dirty="0">
                <a:solidFill>
                  <a:srgbClr val="FFFFFF"/>
                </a:solidFill>
                <a:latin typeface="Cambria" pitchFamily="34" charset="0"/>
                <a:ea typeface="Cambria" pitchFamily="34" charset="-122"/>
                <a:cs typeface="Cambria" pitchFamily="34" charset="-120"/>
              </a:rPr>
              <a:t>You are the detective.</a:t>
            </a:r>
            <a:endParaRPr lang="en-US" sz="3800" dirty="0"/>
          </a:p>
        </p:txBody>
      </p:sp>
      <p:sp>
        <p:nvSpPr>
          <p:cNvPr id="4" name="Text 2"/>
          <p:cNvSpPr/>
          <p:nvPr/>
        </p:nvSpPr>
        <p:spPr>
          <a:xfrm>
            <a:off x="731520" y="4663440"/>
            <a:ext cx="10058400" cy="54864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A machine just told two devices apart. Now let's see what a person can learn from what you post.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THE CHALLENGE - 10 MINUTES</a:t>
            </a:r>
            <a:endParaRPr lang="en-US" sz="1300" dirty="0"/>
          </a:p>
        </p:txBody>
      </p:sp>
      <p:sp>
        <p:nvSpPr>
          <p:cNvPr id="3" name="Text 1"/>
          <p:cNvSpPr/>
          <p:nvPr/>
        </p:nvSpPr>
        <p:spPr>
          <a:xfrm>
            <a:off x="731520" y="914400"/>
            <a:ext cx="10698480" cy="7315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Find out about Hamza using only these six posts.</a:t>
            </a:r>
            <a:endParaRPr lang="en-US" sz="2600" dirty="0"/>
          </a:p>
        </p:txBody>
      </p:sp>
      <p:sp>
        <p:nvSpPr>
          <p:cNvPr id="4" name="Shape 2"/>
          <p:cNvSpPr/>
          <p:nvPr/>
        </p:nvSpPr>
        <p:spPr>
          <a:xfrm>
            <a:off x="731520" y="1828800"/>
            <a:ext cx="5212080" cy="868680"/>
          </a:xfrm>
          <a:prstGeom prst="roundRect">
            <a:avLst>
              <a:gd name="adj" fmla="val 8421"/>
            </a:avLst>
          </a:prstGeom>
          <a:solidFill>
            <a:srgbClr val="F4F6FB"/>
          </a:solidFill>
          <a:ln/>
        </p:spPr>
        <p:txBody>
          <a:bodyPr/>
          <a:lstStyle/>
          <a:p>
            <a:endParaRPr lang="en-US"/>
          </a:p>
        </p:txBody>
      </p:sp>
      <p:sp>
        <p:nvSpPr>
          <p:cNvPr id="5" name="Shape 3"/>
          <p:cNvSpPr/>
          <p:nvPr/>
        </p:nvSpPr>
        <p:spPr>
          <a:xfrm>
            <a:off x="914400" y="2029968"/>
            <a:ext cx="457200" cy="457200"/>
          </a:xfrm>
          <a:prstGeom prst="ellipse">
            <a:avLst/>
          </a:prstGeom>
          <a:solidFill>
            <a:srgbClr val="1E2761"/>
          </a:solidFill>
          <a:ln/>
        </p:spPr>
        <p:txBody>
          <a:bodyPr/>
          <a:lstStyle/>
          <a:p>
            <a:endParaRPr lang="en-US"/>
          </a:p>
        </p:txBody>
      </p:sp>
      <p:sp>
        <p:nvSpPr>
          <p:cNvPr id="6" name="Text 4"/>
          <p:cNvSpPr/>
          <p:nvPr/>
        </p:nvSpPr>
        <p:spPr>
          <a:xfrm>
            <a:off x="914400" y="20299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600200" y="1984248"/>
            <a:ext cx="4160520" cy="54864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His school</a:t>
            </a:r>
            <a:endParaRPr lang="en-US" sz="1400" dirty="0"/>
          </a:p>
        </p:txBody>
      </p:sp>
      <p:sp>
        <p:nvSpPr>
          <p:cNvPr id="8" name="Shape 6"/>
          <p:cNvSpPr/>
          <p:nvPr/>
        </p:nvSpPr>
        <p:spPr>
          <a:xfrm>
            <a:off x="6217920" y="1828800"/>
            <a:ext cx="5212080" cy="868680"/>
          </a:xfrm>
          <a:prstGeom prst="roundRect">
            <a:avLst>
              <a:gd name="adj" fmla="val 8421"/>
            </a:avLst>
          </a:prstGeom>
          <a:solidFill>
            <a:srgbClr val="F4F6FB"/>
          </a:solidFill>
          <a:ln/>
        </p:spPr>
        <p:txBody>
          <a:bodyPr/>
          <a:lstStyle/>
          <a:p>
            <a:endParaRPr lang="en-US"/>
          </a:p>
        </p:txBody>
      </p:sp>
      <p:sp>
        <p:nvSpPr>
          <p:cNvPr id="9" name="Shape 7"/>
          <p:cNvSpPr/>
          <p:nvPr/>
        </p:nvSpPr>
        <p:spPr>
          <a:xfrm>
            <a:off x="6400800" y="2029968"/>
            <a:ext cx="457200" cy="457200"/>
          </a:xfrm>
          <a:prstGeom prst="ellipse">
            <a:avLst/>
          </a:prstGeom>
          <a:solidFill>
            <a:srgbClr val="1E2761"/>
          </a:solidFill>
          <a:ln/>
        </p:spPr>
        <p:txBody>
          <a:bodyPr/>
          <a:lstStyle/>
          <a:p>
            <a:endParaRPr lang="en-US"/>
          </a:p>
        </p:txBody>
      </p:sp>
      <p:sp>
        <p:nvSpPr>
          <p:cNvPr id="10" name="Text 8"/>
          <p:cNvSpPr/>
          <p:nvPr/>
        </p:nvSpPr>
        <p:spPr>
          <a:xfrm>
            <a:off x="6400800" y="20299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7086600" y="1984248"/>
            <a:ext cx="4160520" cy="54864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His exact birthday</a:t>
            </a:r>
            <a:endParaRPr lang="en-US" sz="1400" dirty="0"/>
          </a:p>
        </p:txBody>
      </p:sp>
      <p:sp>
        <p:nvSpPr>
          <p:cNvPr id="12" name="Shape 10"/>
          <p:cNvSpPr/>
          <p:nvPr/>
        </p:nvSpPr>
        <p:spPr>
          <a:xfrm>
            <a:off x="731520" y="2880360"/>
            <a:ext cx="5212080" cy="868680"/>
          </a:xfrm>
          <a:prstGeom prst="roundRect">
            <a:avLst>
              <a:gd name="adj" fmla="val 8421"/>
            </a:avLst>
          </a:prstGeom>
          <a:solidFill>
            <a:srgbClr val="F4F6FB"/>
          </a:solidFill>
          <a:ln/>
        </p:spPr>
        <p:txBody>
          <a:bodyPr/>
          <a:lstStyle/>
          <a:p>
            <a:endParaRPr lang="en-US"/>
          </a:p>
        </p:txBody>
      </p:sp>
      <p:sp>
        <p:nvSpPr>
          <p:cNvPr id="13" name="Shape 11"/>
          <p:cNvSpPr/>
          <p:nvPr/>
        </p:nvSpPr>
        <p:spPr>
          <a:xfrm>
            <a:off x="914400" y="3081528"/>
            <a:ext cx="457200" cy="457200"/>
          </a:xfrm>
          <a:prstGeom prst="ellipse">
            <a:avLst/>
          </a:prstGeom>
          <a:solidFill>
            <a:srgbClr val="1E2761"/>
          </a:solidFill>
          <a:ln/>
        </p:spPr>
        <p:txBody>
          <a:bodyPr/>
          <a:lstStyle/>
          <a:p>
            <a:endParaRPr lang="en-US"/>
          </a:p>
        </p:txBody>
      </p:sp>
      <p:sp>
        <p:nvSpPr>
          <p:cNvPr id="14" name="Text 12"/>
          <p:cNvSpPr/>
          <p:nvPr/>
        </p:nvSpPr>
        <p:spPr>
          <a:xfrm>
            <a:off x="914400" y="308152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600200" y="3035808"/>
            <a:ext cx="4160520" cy="54864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His neighborhood</a:t>
            </a:r>
            <a:endParaRPr lang="en-US" sz="1400" dirty="0"/>
          </a:p>
        </p:txBody>
      </p:sp>
      <p:sp>
        <p:nvSpPr>
          <p:cNvPr id="16" name="Shape 14"/>
          <p:cNvSpPr/>
          <p:nvPr/>
        </p:nvSpPr>
        <p:spPr>
          <a:xfrm>
            <a:off x="6217920" y="2880360"/>
            <a:ext cx="5212080" cy="868680"/>
          </a:xfrm>
          <a:prstGeom prst="roundRect">
            <a:avLst>
              <a:gd name="adj" fmla="val 8421"/>
            </a:avLst>
          </a:prstGeom>
          <a:solidFill>
            <a:srgbClr val="F4F6FB"/>
          </a:solidFill>
          <a:ln/>
        </p:spPr>
        <p:txBody>
          <a:bodyPr/>
          <a:lstStyle/>
          <a:p>
            <a:endParaRPr lang="en-US"/>
          </a:p>
        </p:txBody>
      </p:sp>
      <p:sp>
        <p:nvSpPr>
          <p:cNvPr id="17" name="Shape 15"/>
          <p:cNvSpPr/>
          <p:nvPr/>
        </p:nvSpPr>
        <p:spPr>
          <a:xfrm>
            <a:off x="6400800" y="3081528"/>
            <a:ext cx="457200" cy="457200"/>
          </a:xfrm>
          <a:prstGeom prst="ellipse">
            <a:avLst/>
          </a:prstGeom>
          <a:solidFill>
            <a:srgbClr val="1E2761"/>
          </a:solidFill>
          <a:ln/>
        </p:spPr>
        <p:txBody>
          <a:bodyPr/>
          <a:lstStyle/>
          <a:p>
            <a:endParaRPr lang="en-US"/>
          </a:p>
        </p:txBody>
      </p:sp>
      <p:sp>
        <p:nvSpPr>
          <p:cNvPr id="18" name="Text 16"/>
          <p:cNvSpPr/>
          <p:nvPr/>
        </p:nvSpPr>
        <p:spPr>
          <a:xfrm>
            <a:off x="6400800" y="308152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7086600" y="3035808"/>
            <a:ext cx="4160520" cy="54864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Where he will be this Friday afternoon, and roughly what time</a:t>
            </a:r>
            <a:endParaRPr lang="en-US" sz="1400" dirty="0"/>
          </a:p>
        </p:txBody>
      </p:sp>
      <p:sp>
        <p:nvSpPr>
          <p:cNvPr id="20" name="Shape 18"/>
          <p:cNvSpPr/>
          <p:nvPr/>
        </p:nvSpPr>
        <p:spPr>
          <a:xfrm>
            <a:off x="731520" y="3931920"/>
            <a:ext cx="5212080" cy="868680"/>
          </a:xfrm>
          <a:prstGeom prst="roundRect">
            <a:avLst>
              <a:gd name="adj" fmla="val 8421"/>
            </a:avLst>
          </a:prstGeom>
          <a:solidFill>
            <a:srgbClr val="F4F6FB"/>
          </a:solidFill>
          <a:ln/>
        </p:spPr>
        <p:txBody>
          <a:bodyPr/>
          <a:lstStyle/>
          <a:p>
            <a:endParaRPr lang="en-US"/>
          </a:p>
        </p:txBody>
      </p:sp>
      <p:sp>
        <p:nvSpPr>
          <p:cNvPr id="21" name="Shape 19"/>
          <p:cNvSpPr/>
          <p:nvPr/>
        </p:nvSpPr>
        <p:spPr>
          <a:xfrm>
            <a:off x="914400" y="4133088"/>
            <a:ext cx="457200" cy="457200"/>
          </a:xfrm>
          <a:prstGeom prst="ellipse">
            <a:avLst/>
          </a:prstGeom>
          <a:solidFill>
            <a:srgbClr val="1E2761"/>
          </a:solidFill>
          <a:ln/>
        </p:spPr>
        <p:txBody>
          <a:bodyPr/>
          <a:lstStyle/>
          <a:p>
            <a:endParaRPr lang="en-US"/>
          </a:p>
        </p:txBody>
      </p:sp>
      <p:sp>
        <p:nvSpPr>
          <p:cNvPr id="22" name="Text 20"/>
          <p:cNvSpPr/>
          <p:nvPr/>
        </p:nvSpPr>
        <p:spPr>
          <a:xfrm>
            <a:off x="914400" y="413308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1600200" y="4087368"/>
            <a:ext cx="4160520" cy="54864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What he does every Sunday, and where</a:t>
            </a:r>
            <a:endParaRPr lang="en-US" sz="1400" dirty="0"/>
          </a:p>
        </p:txBody>
      </p:sp>
      <p:sp>
        <p:nvSpPr>
          <p:cNvPr id="24" name="Shape 22"/>
          <p:cNvSpPr/>
          <p:nvPr/>
        </p:nvSpPr>
        <p:spPr>
          <a:xfrm>
            <a:off x="6217920" y="3931920"/>
            <a:ext cx="5212080" cy="868680"/>
          </a:xfrm>
          <a:prstGeom prst="roundRect">
            <a:avLst>
              <a:gd name="adj" fmla="val 8421"/>
            </a:avLst>
          </a:prstGeom>
          <a:solidFill>
            <a:srgbClr val="F4F6FB"/>
          </a:solidFill>
          <a:ln/>
        </p:spPr>
        <p:txBody>
          <a:bodyPr/>
          <a:lstStyle/>
          <a:p>
            <a:endParaRPr lang="en-US"/>
          </a:p>
        </p:txBody>
      </p:sp>
      <p:sp>
        <p:nvSpPr>
          <p:cNvPr id="25" name="Shape 23"/>
          <p:cNvSpPr/>
          <p:nvPr/>
        </p:nvSpPr>
        <p:spPr>
          <a:xfrm>
            <a:off x="6400800" y="4133088"/>
            <a:ext cx="457200" cy="457200"/>
          </a:xfrm>
          <a:prstGeom prst="ellipse">
            <a:avLst/>
          </a:prstGeom>
          <a:solidFill>
            <a:srgbClr val="1E2761"/>
          </a:solidFill>
          <a:ln/>
        </p:spPr>
        <p:txBody>
          <a:bodyPr/>
          <a:lstStyle/>
          <a:p>
            <a:endParaRPr lang="en-US"/>
          </a:p>
        </p:txBody>
      </p:sp>
      <p:sp>
        <p:nvSpPr>
          <p:cNvPr id="26" name="Text 24"/>
          <p:cNvSpPr/>
          <p:nvPr/>
        </p:nvSpPr>
        <p:spPr>
          <a:xfrm>
            <a:off x="6400800" y="413308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7" name="Text 25"/>
          <p:cNvSpPr/>
          <p:nvPr/>
        </p:nvSpPr>
        <p:spPr>
          <a:xfrm>
            <a:off x="7086600" y="4087368"/>
            <a:ext cx="4160520" cy="54864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One expensive item he owns</a:t>
            </a:r>
            <a:endParaRPr lang="en-US" sz="1400" dirty="0"/>
          </a:p>
        </p:txBody>
      </p:sp>
      <p:sp>
        <p:nvSpPr>
          <p:cNvPr id="28" name="Text 26"/>
          <p:cNvSpPr/>
          <p:nvPr/>
        </p:nvSpPr>
        <p:spPr>
          <a:xfrm>
            <a:off x="731520" y="5120640"/>
            <a:ext cx="10698480" cy="45720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Split into teams. Ten minutes. Then each team tells the class what they found.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POST 1 OF 6</a:t>
            </a:r>
            <a:endParaRPr lang="en-US" sz="1300" dirty="0"/>
          </a:p>
        </p:txBody>
      </p:sp>
      <p:sp>
        <p:nvSpPr>
          <p:cNvPr id="3" name="Shape 1"/>
          <p:cNvSpPr/>
          <p:nvPr/>
        </p:nvSpPr>
        <p:spPr>
          <a:xfrm>
            <a:off x="3200400" y="1005840"/>
            <a:ext cx="5760720" cy="4937760"/>
          </a:xfrm>
          <a:prstGeom prst="roundRect">
            <a:avLst>
              <a:gd name="adj" fmla="val 2778"/>
            </a:avLst>
          </a:prstGeom>
          <a:solidFill>
            <a:srgbClr val="FFFFFF"/>
          </a:solidFill>
          <a:ln w="19050">
            <a:solidFill>
              <a:srgbClr val="CADCFC"/>
            </a:solidFill>
            <a:prstDash val="solid"/>
          </a:ln>
          <a:effectLst>
            <a:outerShdw blurRad="152400" dist="50800" dir="5400000" algn="bl" rotWithShape="0">
              <a:srgbClr val="1E2761">
                <a:alpha val="15000"/>
              </a:srgbClr>
            </a:outerShdw>
          </a:effectLst>
        </p:spPr>
        <p:txBody>
          <a:bodyPr/>
          <a:lstStyle/>
          <a:p>
            <a:endParaRPr lang="en-US"/>
          </a:p>
        </p:txBody>
      </p:sp>
      <p:sp>
        <p:nvSpPr>
          <p:cNvPr id="4" name="Shape 2"/>
          <p:cNvSpPr/>
          <p:nvPr/>
        </p:nvSpPr>
        <p:spPr>
          <a:xfrm>
            <a:off x="3474720" y="1280160"/>
            <a:ext cx="502920" cy="502920"/>
          </a:xfrm>
          <a:prstGeom prst="ellipse">
            <a:avLst/>
          </a:prstGeom>
          <a:solidFill>
            <a:srgbClr val="1E2761"/>
          </a:solidFill>
          <a:ln/>
        </p:spPr>
        <p:txBody>
          <a:bodyPr/>
          <a:lstStyle/>
          <a:p>
            <a:endParaRPr lang="en-US"/>
          </a:p>
        </p:txBody>
      </p:sp>
      <p:sp>
        <p:nvSpPr>
          <p:cNvPr id="5" name="Text 3"/>
          <p:cNvSpPr/>
          <p:nvPr/>
        </p:nvSpPr>
        <p:spPr>
          <a:xfrm>
            <a:off x="3474720" y="12801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a:t>
            </a:r>
            <a:endParaRPr lang="en-US" sz="2000" dirty="0"/>
          </a:p>
        </p:txBody>
      </p:sp>
      <p:sp>
        <p:nvSpPr>
          <p:cNvPr id="6" name="Text 4"/>
          <p:cNvSpPr/>
          <p:nvPr/>
        </p:nvSpPr>
        <p:spPr>
          <a:xfrm>
            <a:off x="4114800" y="1261872"/>
            <a:ext cx="27432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Hamza</a:t>
            </a:r>
            <a:endParaRPr lang="en-US" sz="1600" dirty="0"/>
          </a:p>
        </p:txBody>
      </p:sp>
      <p:sp>
        <p:nvSpPr>
          <p:cNvPr id="7" name="Text 5"/>
          <p:cNvSpPr/>
          <p:nvPr/>
        </p:nvSpPr>
        <p:spPr>
          <a:xfrm>
            <a:off x="4114800" y="1554480"/>
            <a:ext cx="27432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@hamza.k</a:t>
            </a:r>
            <a:endParaRPr lang="en-US" sz="1200" dirty="0"/>
          </a:p>
        </p:txBody>
      </p:sp>
      <p:sp>
        <p:nvSpPr>
          <p:cNvPr id="8" name="Shape 6"/>
          <p:cNvSpPr/>
          <p:nvPr/>
        </p:nvSpPr>
        <p:spPr>
          <a:xfrm>
            <a:off x="3474720" y="1965960"/>
            <a:ext cx="5212080" cy="2286000"/>
          </a:xfrm>
          <a:prstGeom prst="roundRect">
            <a:avLst>
              <a:gd name="adj" fmla="val 3200"/>
            </a:avLst>
          </a:prstGeom>
          <a:solidFill>
            <a:srgbClr val="1C7293"/>
          </a:solidFill>
          <a:ln/>
        </p:spPr>
        <p:txBody>
          <a:bodyPr/>
          <a:lstStyle/>
          <a:p>
            <a:endParaRPr lang="en-US"/>
          </a:p>
        </p:txBody>
      </p:sp>
      <p:sp>
        <p:nvSpPr>
          <p:cNvPr id="9" name="Text 7"/>
          <p:cNvSpPr/>
          <p:nvPr/>
        </p:nvSpPr>
        <p:spPr>
          <a:xfrm>
            <a:off x="3474720" y="1965960"/>
            <a:ext cx="5212080" cy="2286000"/>
          </a:xfrm>
          <a:prstGeom prst="rect">
            <a:avLst/>
          </a:prstGeom>
          <a:noFill/>
          <a:ln/>
        </p:spPr>
        <p:txBody>
          <a:bodyPr wrap="square" lIns="0" tIns="0" rIns="0" bIns="0" rtlCol="0" anchor="ctr"/>
          <a:lstStyle/>
          <a:p>
            <a:pPr marL="0" indent="0" algn="ctr">
              <a:buNone/>
            </a:pPr>
            <a:r>
              <a:rPr lang="en-US" sz="6000" dirty="0">
                <a:solidFill>
                  <a:srgbClr val="FFFFFF"/>
                </a:solidFill>
                <a:latin typeface="Calibri" pitchFamily="34" charset="0"/>
                <a:ea typeface="Calibri" pitchFamily="34" charset="-122"/>
                <a:cs typeface="Calibri" pitchFamily="34" charset="-120"/>
              </a:rPr>
              <a:t>🎓</a:t>
            </a:r>
            <a:endParaRPr lang="en-US" sz="6000" dirty="0"/>
          </a:p>
        </p:txBody>
      </p:sp>
      <p:sp>
        <p:nvSpPr>
          <p:cNvPr id="10" name="Text 8"/>
          <p:cNvSpPr/>
          <p:nvPr/>
        </p:nvSpPr>
        <p:spPr>
          <a:xfrm>
            <a:off x="3474720" y="4389120"/>
            <a:ext cx="5212080" cy="1188720"/>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Monday blues, back to the grind. #schoollife</a:t>
            </a:r>
            <a:endParaRPr lang="en-US" sz="1500" dirty="0"/>
          </a:p>
        </p:txBody>
      </p:sp>
      <p:sp>
        <p:nvSpPr>
          <p:cNvPr id="11" name="Text 9"/>
          <p:cNvSpPr/>
          <p:nvPr/>
        </p:nvSpPr>
        <p:spPr>
          <a:xfrm>
            <a:off x="3474720" y="5486400"/>
            <a:ext cx="5212080" cy="36576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(photo: selfie in uniform, blazer crest partly visible)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POST 2 OF 6</a:t>
            </a:r>
            <a:endParaRPr lang="en-US" sz="1300" dirty="0"/>
          </a:p>
        </p:txBody>
      </p:sp>
      <p:sp>
        <p:nvSpPr>
          <p:cNvPr id="3" name="Shape 1"/>
          <p:cNvSpPr/>
          <p:nvPr/>
        </p:nvSpPr>
        <p:spPr>
          <a:xfrm>
            <a:off x="3200400" y="1005840"/>
            <a:ext cx="5760720" cy="4937760"/>
          </a:xfrm>
          <a:prstGeom prst="roundRect">
            <a:avLst>
              <a:gd name="adj" fmla="val 2778"/>
            </a:avLst>
          </a:prstGeom>
          <a:solidFill>
            <a:srgbClr val="FFFFFF"/>
          </a:solidFill>
          <a:ln w="19050">
            <a:solidFill>
              <a:srgbClr val="CADCFC"/>
            </a:solidFill>
            <a:prstDash val="solid"/>
          </a:ln>
          <a:effectLst>
            <a:outerShdw blurRad="152400" dist="50800" dir="5400000" algn="bl" rotWithShape="0">
              <a:srgbClr val="1E2761">
                <a:alpha val="15000"/>
              </a:srgbClr>
            </a:outerShdw>
          </a:effectLst>
        </p:spPr>
        <p:txBody>
          <a:bodyPr/>
          <a:lstStyle/>
          <a:p>
            <a:endParaRPr lang="en-US"/>
          </a:p>
        </p:txBody>
      </p:sp>
      <p:sp>
        <p:nvSpPr>
          <p:cNvPr id="4" name="Shape 2"/>
          <p:cNvSpPr/>
          <p:nvPr/>
        </p:nvSpPr>
        <p:spPr>
          <a:xfrm>
            <a:off x="3474720" y="1280160"/>
            <a:ext cx="502920" cy="502920"/>
          </a:xfrm>
          <a:prstGeom prst="ellipse">
            <a:avLst/>
          </a:prstGeom>
          <a:solidFill>
            <a:srgbClr val="1E2761"/>
          </a:solidFill>
          <a:ln/>
        </p:spPr>
        <p:txBody>
          <a:bodyPr/>
          <a:lstStyle/>
          <a:p>
            <a:endParaRPr lang="en-US"/>
          </a:p>
        </p:txBody>
      </p:sp>
      <p:sp>
        <p:nvSpPr>
          <p:cNvPr id="5" name="Text 3"/>
          <p:cNvSpPr/>
          <p:nvPr/>
        </p:nvSpPr>
        <p:spPr>
          <a:xfrm>
            <a:off x="3474720" y="12801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a:t>
            </a:r>
            <a:endParaRPr lang="en-US" sz="2000" dirty="0"/>
          </a:p>
        </p:txBody>
      </p:sp>
      <p:sp>
        <p:nvSpPr>
          <p:cNvPr id="6" name="Text 4"/>
          <p:cNvSpPr/>
          <p:nvPr/>
        </p:nvSpPr>
        <p:spPr>
          <a:xfrm>
            <a:off x="4114800" y="1261872"/>
            <a:ext cx="27432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Hamza</a:t>
            </a:r>
            <a:endParaRPr lang="en-US" sz="1600" dirty="0"/>
          </a:p>
        </p:txBody>
      </p:sp>
      <p:sp>
        <p:nvSpPr>
          <p:cNvPr id="7" name="Text 5"/>
          <p:cNvSpPr/>
          <p:nvPr/>
        </p:nvSpPr>
        <p:spPr>
          <a:xfrm>
            <a:off x="4114800" y="1554480"/>
            <a:ext cx="27432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@hamza.k</a:t>
            </a:r>
            <a:endParaRPr lang="en-US" sz="1200" dirty="0"/>
          </a:p>
        </p:txBody>
      </p:sp>
      <p:sp>
        <p:nvSpPr>
          <p:cNvPr id="8" name="Shape 6"/>
          <p:cNvSpPr/>
          <p:nvPr/>
        </p:nvSpPr>
        <p:spPr>
          <a:xfrm>
            <a:off x="3474720" y="1965960"/>
            <a:ext cx="5212080" cy="2286000"/>
          </a:xfrm>
          <a:prstGeom prst="roundRect">
            <a:avLst>
              <a:gd name="adj" fmla="val 3200"/>
            </a:avLst>
          </a:prstGeom>
          <a:solidFill>
            <a:srgbClr val="2C5F2D"/>
          </a:solidFill>
          <a:ln/>
        </p:spPr>
        <p:txBody>
          <a:bodyPr/>
          <a:lstStyle/>
          <a:p>
            <a:endParaRPr lang="en-US"/>
          </a:p>
        </p:txBody>
      </p:sp>
      <p:sp>
        <p:nvSpPr>
          <p:cNvPr id="9" name="Text 7"/>
          <p:cNvSpPr/>
          <p:nvPr/>
        </p:nvSpPr>
        <p:spPr>
          <a:xfrm>
            <a:off x="3474720" y="1965960"/>
            <a:ext cx="5212080" cy="2286000"/>
          </a:xfrm>
          <a:prstGeom prst="rect">
            <a:avLst/>
          </a:prstGeom>
          <a:noFill/>
          <a:ln/>
        </p:spPr>
        <p:txBody>
          <a:bodyPr wrap="square" lIns="0" tIns="0" rIns="0" bIns="0" rtlCol="0" anchor="ctr"/>
          <a:lstStyle/>
          <a:p>
            <a:pPr marL="0" indent="0" algn="ctr">
              <a:buNone/>
            </a:pPr>
            <a:r>
              <a:rPr lang="en-US" sz="6000" dirty="0">
                <a:solidFill>
                  <a:srgbClr val="FFFFFF"/>
                </a:solidFill>
                <a:latin typeface="Calibri" pitchFamily="34" charset="0"/>
                <a:ea typeface="Calibri" pitchFamily="34" charset="-122"/>
                <a:cs typeface="Calibri" pitchFamily="34" charset="-120"/>
              </a:rPr>
              <a:t>🏏</a:t>
            </a:r>
            <a:endParaRPr lang="en-US" sz="6000" dirty="0"/>
          </a:p>
        </p:txBody>
      </p:sp>
      <p:sp>
        <p:nvSpPr>
          <p:cNvPr id="10" name="Text 8"/>
          <p:cNvSpPr/>
          <p:nvPr/>
        </p:nvSpPr>
        <p:spPr>
          <a:xfrm>
            <a:off x="3474720" y="4389120"/>
            <a:ext cx="5212080" cy="1188720"/>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Finally Friday! Cricket at the usual ground after Asr.</a:t>
            </a:r>
            <a:endParaRPr lang="en-US" sz="1500" dirty="0"/>
          </a:p>
        </p:txBody>
      </p:sp>
      <p:sp>
        <p:nvSpPr>
          <p:cNvPr id="11" name="Text 9"/>
          <p:cNvSpPr/>
          <p:nvPr/>
        </p:nvSpPr>
        <p:spPr>
          <a:xfrm>
            <a:off x="3474720" y="5486400"/>
            <a:ext cx="5212080" cy="36576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(photo: cricket bat leaning against a wall)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POST 3 OF 6</a:t>
            </a:r>
            <a:endParaRPr lang="en-US" sz="1300" dirty="0"/>
          </a:p>
        </p:txBody>
      </p:sp>
      <p:sp>
        <p:nvSpPr>
          <p:cNvPr id="3" name="Shape 1"/>
          <p:cNvSpPr/>
          <p:nvPr/>
        </p:nvSpPr>
        <p:spPr>
          <a:xfrm>
            <a:off x="3200400" y="1005840"/>
            <a:ext cx="5760720" cy="4937760"/>
          </a:xfrm>
          <a:prstGeom prst="roundRect">
            <a:avLst>
              <a:gd name="adj" fmla="val 2778"/>
            </a:avLst>
          </a:prstGeom>
          <a:solidFill>
            <a:srgbClr val="FFFFFF"/>
          </a:solidFill>
          <a:ln w="19050">
            <a:solidFill>
              <a:srgbClr val="CADCFC"/>
            </a:solidFill>
            <a:prstDash val="solid"/>
          </a:ln>
          <a:effectLst>
            <a:outerShdw blurRad="152400" dist="50800" dir="5400000" algn="bl" rotWithShape="0">
              <a:srgbClr val="1E2761">
                <a:alpha val="15000"/>
              </a:srgbClr>
            </a:outerShdw>
          </a:effectLst>
        </p:spPr>
        <p:txBody>
          <a:bodyPr/>
          <a:lstStyle/>
          <a:p>
            <a:endParaRPr lang="en-US"/>
          </a:p>
        </p:txBody>
      </p:sp>
      <p:sp>
        <p:nvSpPr>
          <p:cNvPr id="4" name="Shape 2"/>
          <p:cNvSpPr/>
          <p:nvPr/>
        </p:nvSpPr>
        <p:spPr>
          <a:xfrm>
            <a:off x="3474720" y="1280160"/>
            <a:ext cx="502920" cy="502920"/>
          </a:xfrm>
          <a:prstGeom prst="ellipse">
            <a:avLst/>
          </a:prstGeom>
          <a:solidFill>
            <a:srgbClr val="1E2761"/>
          </a:solidFill>
          <a:ln/>
        </p:spPr>
        <p:txBody>
          <a:bodyPr/>
          <a:lstStyle/>
          <a:p>
            <a:endParaRPr lang="en-US"/>
          </a:p>
        </p:txBody>
      </p:sp>
      <p:sp>
        <p:nvSpPr>
          <p:cNvPr id="5" name="Text 3"/>
          <p:cNvSpPr/>
          <p:nvPr/>
        </p:nvSpPr>
        <p:spPr>
          <a:xfrm>
            <a:off x="3474720" y="12801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a:t>
            </a:r>
            <a:endParaRPr lang="en-US" sz="2000" dirty="0"/>
          </a:p>
        </p:txBody>
      </p:sp>
      <p:sp>
        <p:nvSpPr>
          <p:cNvPr id="6" name="Text 4"/>
          <p:cNvSpPr/>
          <p:nvPr/>
        </p:nvSpPr>
        <p:spPr>
          <a:xfrm>
            <a:off x="4114800" y="1261872"/>
            <a:ext cx="27432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Hamza</a:t>
            </a:r>
            <a:endParaRPr lang="en-US" sz="1600" dirty="0"/>
          </a:p>
        </p:txBody>
      </p:sp>
      <p:sp>
        <p:nvSpPr>
          <p:cNvPr id="7" name="Text 5"/>
          <p:cNvSpPr/>
          <p:nvPr/>
        </p:nvSpPr>
        <p:spPr>
          <a:xfrm>
            <a:off x="4114800" y="1554480"/>
            <a:ext cx="27432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@friend_of_hamza</a:t>
            </a:r>
            <a:endParaRPr lang="en-US" sz="1200" dirty="0"/>
          </a:p>
        </p:txBody>
      </p:sp>
      <p:sp>
        <p:nvSpPr>
          <p:cNvPr id="8" name="Shape 6"/>
          <p:cNvSpPr/>
          <p:nvPr/>
        </p:nvSpPr>
        <p:spPr>
          <a:xfrm>
            <a:off x="3474720" y="1965960"/>
            <a:ext cx="5212080" cy="2286000"/>
          </a:xfrm>
          <a:prstGeom prst="roundRect">
            <a:avLst>
              <a:gd name="adj" fmla="val 3200"/>
            </a:avLst>
          </a:prstGeom>
          <a:solidFill>
            <a:srgbClr val="990011"/>
          </a:solidFill>
          <a:ln/>
        </p:spPr>
        <p:txBody>
          <a:bodyPr/>
          <a:lstStyle/>
          <a:p>
            <a:endParaRPr lang="en-US"/>
          </a:p>
        </p:txBody>
      </p:sp>
      <p:sp>
        <p:nvSpPr>
          <p:cNvPr id="9" name="Text 7"/>
          <p:cNvSpPr/>
          <p:nvPr/>
        </p:nvSpPr>
        <p:spPr>
          <a:xfrm>
            <a:off x="3474720" y="1965960"/>
            <a:ext cx="5212080" cy="2286000"/>
          </a:xfrm>
          <a:prstGeom prst="rect">
            <a:avLst/>
          </a:prstGeom>
          <a:noFill/>
          <a:ln/>
        </p:spPr>
        <p:txBody>
          <a:bodyPr wrap="square" lIns="0" tIns="0" rIns="0" bIns="0" rtlCol="0" anchor="ctr"/>
          <a:lstStyle/>
          <a:p>
            <a:pPr marL="0" indent="0" algn="ctr">
              <a:buNone/>
            </a:pPr>
            <a:r>
              <a:rPr lang="en-US" sz="6000" dirty="0">
                <a:solidFill>
                  <a:srgbClr val="FFFFFF"/>
                </a:solidFill>
                <a:latin typeface="Calibri" pitchFamily="34" charset="0"/>
                <a:ea typeface="Calibri" pitchFamily="34" charset="-122"/>
                <a:cs typeface="Calibri" pitchFamily="34" charset="-120"/>
              </a:rPr>
              <a:t>🎂</a:t>
            </a:r>
            <a:endParaRPr lang="en-US" sz="6000" dirty="0"/>
          </a:p>
        </p:txBody>
      </p:sp>
      <p:sp>
        <p:nvSpPr>
          <p:cNvPr id="10" name="Text 8"/>
          <p:cNvSpPr/>
          <p:nvPr/>
        </p:nvSpPr>
        <p:spPr>
          <a:xfrm>
            <a:off x="3474720" y="4389120"/>
            <a:ext cx="5212080" cy="1188720"/>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Happy 16th Hamza! Can't believe it's already July 14th.</a:t>
            </a:r>
            <a:endParaRPr lang="en-US" sz="1500" dirty="0"/>
          </a:p>
        </p:txBody>
      </p:sp>
      <p:sp>
        <p:nvSpPr>
          <p:cNvPr id="11" name="Text 9"/>
          <p:cNvSpPr/>
          <p:nvPr/>
        </p:nvSpPr>
        <p:spPr>
          <a:xfrm>
            <a:off x="3474720" y="5486400"/>
            <a:ext cx="5212080" cy="36576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 friend's post, tagging Hamza)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POST 4 OF 6</a:t>
            </a:r>
            <a:endParaRPr lang="en-US" sz="1300" dirty="0"/>
          </a:p>
        </p:txBody>
      </p:sp>
      <p:sp>
        <p:nvSpPr>
          <p:cNvPr id="3" name="Shape 1"/>
          <p:cNvSpPr/>
          <p:nvPr/>
        </p:nvSpPr>
        <p:spPr>
          <a:xfrm>
            <a:off x="3200400" y="1005840"/>
            <a:ext cx="5760720" cy="4937760"/>
          </a:xfrm>
          <a:prstGeom prst="roundRect">
            <a:avLst>
              <a:gd name="adj" fmla="val 2778"/>
            </a:avLst>
          </a:prstGeom>
          <a:solidFill>
            <a:srgbClr val="FFFFFF"/>
          </a:solidFill>
          <a:ln w="19050">
            <a:solidFill>
              <a:srgbClr val="CADCFC"/>
            </a:solidFill>
            <a:prstDash val="solid"/>
          </a:ln>
          <a:effectLst>
            <a:outerShdw blurRad="152400" dist="50800" dir="5400000" algn="bl" rotWithShape="0">
              <a:srgbClr val="1E2761">
                <a:alpha val="15000"/>
              </a:srgbClr>
            </a:outerShdw>
          </a:effectLst>
        </p:spPr>
        <p:txBody>
          <a:bodyPr/>
          <a:lstStyle/>
          <a:p>
            <a:endParaRPr lang="en-US"/>
          </a:p>
        </p:txBody>
      </p:sp>
      <p:sp>
        <p:nvSpPr>
          <p:cNvPr id="4" name="Shape 2"/>
          <p:cNvSpPr/>
          <p:nvPr/>
        </p:nvSpPr>
        <p:spPr>
          <a:xfrm>
            <a:off x="3474720" y="1280160"/>
            <a:ext cx="502920" cy="502920"/>
          </a:xfrm>
          <a:prstGeom prst="ellipse">
            <a:avLst/>
          </a:prstGeom>
          <a:solidFill>
            <a:srgbClr val="1E2761"/>
          </a:solidFill>
          <a:ln/>
        </p:spPr>
        <p:txBody>
          <a:bodyPr/>
          <a:lstStyle/>
          <a:p>
            <a:endParaRPr lang="en-US"/>
          </a:p>
        </p:txBody>
      </p:sp>
      <p:sp>
        <p:nvSpPr>
          <p:cNvPr id="5" name="Text 3"/>
          <p:cNvSpPr/>
          <p:nvPr/>
        </p:nvSpPr>
        <p:spPr>
          <a:xfrm>
            <a:off x="3474720" y="12801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a:t>
            </a:r>
            <a:endParaRPr lang="en-US" sz="2000" dirty="0"/>
          </a:p>
        </p:txBody>
      </p:sp>
      <p:sp>
        <p:nvSpPr>
          <p:cNvPr id="6" name="Text 4"/>
          <p:cNvSpPr/>
          <p:nvPr/>
        </p:nvSpPr>
        <p:spPr>
          <a:xfrm>
            <a:off x="4114800" y="1261872"/>
            <a:ext cx="27432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Hamza</a:t>
            </a:r>
            <a:endParaRPr lang="en-US" sz="1600" dirty="0"/>
          </a:p>
        </p:txBody>
      </p:sp>
      <p:sp>
        <p:nvSpPr>
          <p:cNvPr id="7" name="Text 5"/>
          <p:cNvSpPr/>
          <p:nvPr/>
        </p:nvSpPr>
        <p:spPr>
          <a:xfrm>
            <a:off x="4114800" y="1554480"/>
            <a:ext cx="27432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@hamza.k</a:t>
            </a:r>
            <a:endParaRPr lang="en-US" sz="1200" dirty="0"/>
          </a:p>
        </p:txBody>
      </p:sp>
      <p:sp>
        <p:nvSpPr>
          <p:cNvPr id="8" name="Shape 6"/>
          <p:cNvSpPr/>
          <p:nvPr/>
        </p:nvSpPr>
        <p:spPr>
          <a:xfrm>
            <a:off x="3474720" y="1965960"/>
            <a:ext cx="5212080" cy="2286000"/>
          </a:xfrm>
          <a:prstGeom prst="roundRect">
            <a:avLst>
              <a:gd name="adj" fmla="val 3200"/>
            </a:avLst>
          </a:prstGeom>
          <a:solidFill>
            <a:srgbClr val="B85042"/>
          </a:solidFill>
          <a:ln/>
        </p:spPr>
        <p:txBody>
          <a:bodyPr/>
          <a:lstStyle/>
          <a:p>
            <a:endParaRPr lang="en-US"/>
          </a:p>
        </p:txBody>
      </p:sp>
      <p:sp>
        <p:nvSpPr>
          <p:cNvPr id="9" name="Text 7"/>
          <p:cNvSpPr/>
          <p:nvPr/>
        </p:nvSpPr>
        <p:spPr>
          <a:xfrm>
            <a:off x="3474720" y="1965960"/>
            <a:ext cx="5212080" cy="2286000"/>
          </a:xfrm>
          <a:prstGeom prst="rect">
            <a:avLst/>
          </a:prstGeom>
          <a:noFill/>
          <a:ln/>
        </p:spPr>
        <p:txBody>
          <a:bodyPr wrap="square" lIns="0" tIns="0" rIns="0" bIns="0" rtlCol="0" anchor="ctr"/>
          <a:lstStyle/>
          <a:p>
            <a:pPr marL="0" indent="0" algn="ctr">
              <a:buNone/>
            </a:pPr>
            <a:r>
              <a:rPr lang="en-US" sz="6000" dirty="0">
                <a:solidFill>
                  <a:srgbClr val="FFFFFF"/>
                </a:solidFill>
                <a:latin typeface="Calibri" pitchFamily="34" charset="0"/>
                <a:ea typeface="Calibri" pitchFamily="34" charset="-122"/>
                <a:cs typeface="Calibri" pitchFamily="34" charset="-120"/>
              </a:rPr>
              <a:t>🏠</a:t>
            </a:r>
            <a:endParaRPr lang="en-US" sz="6000" dirty="0"/>
          </a:p>
        </p:txBody>
      </p:sp>
      <p:sp>
        <p:nvSpPr>
          <p:cNvPr id="10" name="Text 8"/>
          <p:cNvSpPr/>
          <p:nvPr/>
        </p:nvSpPr>
        <p:spPr>
          <a:xfrm>
            <a:off x="3474720" y="4389120"/>
            <a:ext cx="5212080" cy="1188720"/>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New street, still not used to it.</a:t>
            </a:r>
            <a:endParaRPr lang="en-US" sz="1500" dirty="0"/>
          </a:p>
        </p:txBody>
      </p:sp>
      <p:sp>
        <p:nvSpPr>
          <p:cNvPr id="11" name="Text 9"/>
          <p:cNvSpPr/>
          <p:nvPr/>
        </p:nvSpPr>
        <p:spPr>
          <a:xfrm>
            <a:off x="3474720" y="5486400"/>
            <a:ext cx="5212080" cy="36576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(photo: house gate, a shop sign reading Al-Falah General Store, Street 5, University Town, visible in the background)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POST 5 OF 6</a:t>
            </a:r>
            <a:endParaRPr lang="en-US" sz="1300" dirty="0"/>
          </a:p>
        </p:txBody>
      </p:sp>
      <p:sp>
        <p:nvSpPr>
          <p:cNvPr id="3" name="Shape 1"/>
          <p:cNvSpPr/>
          <p:nvPr/>
        </p:nvSpPr>
        <p:spPr>
          <a:xfrm>
            <a:off x="3200400" y="1005840"/>
            <a:ext cx="5760720" cy="4937760"/>
          </a:xfrm>
          <a:prstGeom prst="roundRect">
            <a:avLst>
              <a:gd name="adj" fmla="val 2778"/>
            </a:avLst>
          </a:prstGeom>
          <a:solidFill>
            <a:srgbClr val="FFFFFF"/>
          </a:solidFill>
          <a:ln w="19050">
            <a:solidFill>
              <a:srgbClr val="CADCFC"/>
            </a:solidFill>
            <a:prstDash val="solid"/>
          </a:ln>
          <a:effectLst>
            <a:outerShdw blurRad="152400" dist="50800" dir="5400000" algn="bl" rotWithShape="0">
              <a:srgbClr val="1E2761">
                <a:alpha val="15000"/>
              </a:srgbClr>
            </a:outerShdw>
          </a:effectLst>
        </p:spPr>
        <p:txBody>
          <a:bodyPr/>
          <a:lstStyle/>
          <a:p>
            <a:endParaRPr lang="en-US"/>
          </a:p>
        </p:txBody>
      </p:sp>
      <p:sp>
        <p:nvSpPr>
          <p:cNvPr id="4" name="Shape 2"/>
          <p:cNvSpPr/>
          <p:nvPr/>
        </p:nvSpPr>
        <p:spPr>
          <a:xfrm>
            <a:off x="3474720" y="1280160"/>
            <a:ext cx="502920" cy="502920"/>
          </a:xfrm>
          <a:prstGeom prst="ellipse">
            <a:avLst/>
          </a:prstGeom>
          <a:solidFill>
            <a:srgbClr val="1E2761"/>
          </a:solidFill>
          <a:ln/>
        </p:spPr>
        <p:txBody>
          <a:bodyPr/>
          <a:lstStyle/>
          <a:p>
            <a:endParaRPr lang="en-US"/>
          </a:p>
        </p:txBody>
      </p:sp>
      <p:sp>
        <p:nvSpPr>
          <p:cNvPr id="5" name="Text 3"/>
          <p:cNvSpPr/>
          <p:nvPr/>
        </p:nvSpPr>
        <p:spPr>
          <a:xfrm>
            <a:off x="3474720" y="12801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a:t>
            </a:r>
            <a:endParaRPr lang="en-US" sz="2000" dirty="0"/>
          </a:p>
        </p:txBody>
      </p:sp>
      <p:sp>
        <p:nvSpPr>
          <p:cNvPr id="6" name="Text 4"/>
          <p:cNvSpPr/>
          <p:nvPr/>
        </p:nvSpPr>
        <p:spPr>
          <a:xfrm>
            <a:off x="4114800" y="1261872"/>
            <a:ext cx="27432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Hamza</a:t>
            </a:r>
            <a:endParaRPr lang="en-US" sz="1600" dirty="0"/>
          </a:p>
        </p:txBody>
      </p:sp>
      <p:sp>
        <p:nvSpPr>
          <p:cNvPr id="7" name="Text 5"/>
          <p:cNvSpPr/>
          <p:nvPr/>
        </p:nvSpPr>
        <p:spPr>
          <a:xfrm>
            <a:off x="4114800" y="1554480"/>
            <a:ext cx="27432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@hamza.k</a:t>
            </a:r>
            <a:endParaRPr lang="en-US" sz="1200" dirty="0"/>
          </a:p>
        </p:txBody>
      </p:sp>
      <p:sp>
        <p:nvSpPr>
          <p:cNvPr id="8" name="Shape 6"/>
          <p:cNvSpPr/>
          <p:nvPr/>
        </p:nvSpPr>
        <p:spPr>
          <a:xfrm>
            <a:off x="3474720" y="1965960"/>
            <a:ext cx="5212080" cy="2286000"/>
          </a:xfrm>
          <a:prstGeom prst="roundRect">
            <a:avLst>
              <a:gd name="adj" fmla="val 3200"/>
            </a:avLst>
          </a:prstGeom>
          <a:solidFill>
            <a:srgbClr val="6D2E46"/>
          </a:solidFill>
          <a:ln/>
        </p:spPr>
        <p:txBody>
          <a:bodyPr/>
          <a:lstStyle/>
          <a:p>
            <a:endParaRPr lang="en-US"/>
          </a:p>
        </p:txBody>
      </p:sp>
      <p:sp>
        <p:nvSpPr>
          <p:cNvPr id="9" name="Text 7"/>
          <p:cNvSpPr/>
          <p:nvPr/>
        </p:nvSpPr>
        <p:spPr>
          <a:xfrm>
            <a:off x="3474720" y="1965960"/>
            <a:ext cx="5212080" cy="2286000"/>
          </a:xfrm>
          <a:prstGeom prst="rect">
            <a:avLst/>
          </a:prstGeom>
          <a:noFill/>
          <a:ln/>
        </p:spPr>
        <p:txBody>
          <a:bodyPr wrap="square" lIns="0" tIns="0" rIns="0" bIns="0" rtlCol="0" anchor="ctr"/>
          <a:lstStyle/>
          <a:p>
            <a:pPr marL="0" indent="0" algn="ctr">
              <a:buNone/>
            </a:pPr>
            <a:r>
              <a:rPr lang="en-US" sz="6000" dirty="0">
                <a:solidFill>
                  <a:srgbClr val="FFFFFF"/>
                </a:solidFill>
                <a:latin typeface="Calibri" pitchFamily="34" charset="0"/>
                <a:ea typeface="Calibri" pitchFamily="34" charset="-122"/>
                <a:cs typeface="Calibri" pitchFamily="34" charset="-120"/>
              </a:rPr>
              <a:t>📱</a:t>
            </a:r>
            <a:endParaRPr lang="en-US" sz="6000" dirty="0"/>
          </a:p>
        </p:txBody>
      </p:sp>
      <p:sp>
        <p:nvSpPr>
          <p:cNvPr id="10" name="Text 8"/>
          <p:cNvSpPr/>
          <p:nvPr/>
        </p:nvSpPr>
        <p:spPr>
          <a:xfrm>
            <a:off x="3474720" y="4389120"/>
            <a:ext cx="5212080" cy="1188720"/>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New phone! Finally upgraded.</a:t>
            </a:r>
            <a:endParaRPr lang="en-US" sz="1500" dirty="0"/>
          </a:p>
        </p:txBody>
      </p:sp>
      <p:sp>
        <p:nvSpPr>
          <p:cNvPr id="11" name="Text 9"/>
          <p:cNvSpPr/>
          <p:nvPr/>
        </p:nvSpPr>
        <p:spPr>
          <a:xfrm>
            <a:off x="3474720" y="5486400"/>
            <a:ext cx="5212080" cy="36576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(photo: phone box, model number partly visible, Samsung Galaxy S24)</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POST 6 OF 6</a:t>
            </a:r>
            <a:endParaRPr lang="en-US" sz="1300" dirty="0"/>
          </a:p>
        </p:txBody>
      </p:sp>
      <p:sp>
        <p:nvSpPr>
          <p:cNvPr id="3" name="Shape 1"/>
          <p:cNvSpPr/>
          <p:nvPr/>
        </p:nvSpPr>
        <p:spPr>
          <a:xfrm>
            <a:off x="3200400" y="1005840"/>
            <a:ext cx="5760720" cy="4937760"/>
          </a:xfrm>
          <a:prstGeom prst="roundRect">
            <a:avLst>
              <a:gd name="adj" fmla="val 2778"/>
            </a:avLst>
          </a:prstGeom>
          <a:solidFill>
            <a:srgbClr val="FFFFFF"/>
          </a:solidFill>
          <a:ln w="19050">
            <a:solidFill>
              <a:srgbClr val="CADCFC"/>
            </a:solidFill>
            <a:prstDash val="solid"/>
          </a:ln>
          <a:effectLst>
            <a:outerShdw blurRad="152400" dist="50800" dir="5400000" algn="bl" rotWithShape="0">
              <a:srgbClr val="1E2761">
                <a:alpha val="15000"/>
              </a:srgbClr>
            </a:outerShdw>
          </a:effectLst>
        </p:spPr>
        <p:txBody>
          <a:bodyPr/>
          <a:lstStyle/>
          <a:p>
            <a:endParaRPr lang="en-US"/>
          </a:p>
        </p:txBody>
      </p:sp>
      <p:sp>
        <p:nvSpPr>
          <p:cNvPr id="4" name="Shape 2"/>
          <p:cNvSpPr/>
          <p:nvPr/>
        </p:nvSpPr>
        <p:spPr>
          <a:xfrm>
            <a:off x="3474720" y="1280160"/>
            <a:ext cx="502920" cy="502920"/>
          </a:xfrm>
          <a:prstGeom prst="ellipse">
            <a:avLst/>
          </a:prstGeom>
          <a:solidFill>
            <a:srgbClr val="1E2761"/>
          </a:solidFill>
          <a:ln/>
        </p:spPr>
        <p:txBody>
          <a:bodyPr/>
          <a:lstStyle/>
          <a:p>
            <a:endParaRPr lang="en-US"/>
          </a:p>
        </p:txBody>
      </p:sp>
      <p:sp>
        <p:nvSpPr>
          <p:cNvPr id="5" name="Text 3"/>
          <p:cNvSpPr/>
          <p:nvPr/>
        </p:nvSpPr>
        <p:spPr>
          <a:xfrm>
            <a:off x="3474720" y="12801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a:t>
            </a:r>
            <a:endParaRPr lang="en-US" sz="2000" dirty="0"/>
          </a:p>
        </p:txBody>
      </p:sp>
      <p:sp>
        <p:nvSpPr>
          <p:cNvPr id="6" name="Text 4"/>
          <p:cNvSpPr/>
          <p:nvPr/>
        </p:nvSpPr>
        <p:spPr>
          <a:xfrm>
            <a:off x="4114800" y="1261872"/>
            <a:ext cx="2743200" cy="3200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Hamza</a:t>
            </a:r>
            <a:endParaRPr lang="en-US" sz="1600" dirty="0"/>
          </a:p>
        </p:txBody>
      </p:sp>
      <p:sp>
        <p:nvSpPr>
          <p:cNvPr id="7" name="Text 5"/>
          <p:cNvSpPr/>
          <p:nvPr/>
        </p:nvSpPr>
        <p:spPr>
          <a:xfrm>
            <a:off x="4114800" y="1554480"/>
            <a:ext cx="27432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@hamza.k</a:t>
            </a:r>
            <a:endParaRPr lang="en-US" sz="1200" dirty="0"/>
          </a:p>
        </p:txBody>
      </p:sp>
      <p:sp>
        <p:nvSpPr>
          <p:cNvPr id="8" name="Shape 6"/>
          <p:cNvSpPr/>
          <p:nvPr/>
        </p:nvSpPr>
        <p:spPr>
          <a:xfrm>
            <a:off x="3474720" y="1965960"/>
            <a:ext cx="5212080" cy="2286000"/>
          </a:xfrm>
          <a:prstGeom prst="roundRect">
            <a:avLst>
              <a:gd name="adj" fmla="val 3200"/>
            </a:avLst>
          </a:prstGeom>
          <a:solidFill>
            <a:srgbClr val="028090"/>
          </a:solidFill>
          <a:ln/>
        </p:spPr>
        <p:txBody>
          <a:bodyPr/>
          <a:lstStyle/>
          <a:p>
            <a:endParaRPr lang="en-US"/>
          </a:p>
        </p:txBody>
      </p:sp>
      <p:sp>
        <p:nvSpPr>
          <p:cNvPr id="9" name="Text 7"/>
          <p:cNvSpPr/>
          <p:nvPr/>
        </p:nvSpPr>
        <p:spPr>
          <a:xfrm>
            <a:off x="3474720" y="1965960"/>
            <a:ext cx="5212080" cy="2286000"/>
          </a:xfrm>
          <a:prstGeom prst="rect">
            <a:avLst/>
          </a:prstGeom>
          <a:noFill/>
          <a:ln/>
        </p:spPr>
        <p:txBody>
          <a:bodyPr wrap="square" lIns="0" tIns="0" rIns="0" bIns="0" rtlCol="0" anchor="ctr"/>
          <a:lstStyle/>
          <a:p>
            <a:pPr marL="0" indent="0" algn="ctr">
              <a:buNone/>
            </a:pPr>
            <a:r>
              <a:rPr lang="en-US" sz="6000" dirty="0">
                <a:solidFill>
                  <a:srgbClr val="FFFFFF"/>
                </a:solidFill>
                <a:latin typeface="Calibri" pitchFamily="34" charset="0"/>
                <a:ea typeface="Calibri" pitchFamily="34" charset="-122"/>
                <a:cs typeface="Calibri" pitchFamily="34" charset="-120"/>
              </a:rPr>
              <a:t>🍦</a:t>
            </a:r>
            <a:endParaRPr lang="en-US" sz="6000" dirty="0"/>
          </a:p>
        </p:txBody>
      </p:sp>
      <p:sp>
        <p:nvSpPr>
          <p:cNvPr id="10" name="Text 8"/>
          <p:cNvSpPr/>
          <p:nvPr/>
        </p:nvSpPr>
        <p:spPr>
          <a:xfrm>
            <a:off x="3474720" y="4389120"/>
            <a:ext cx="5212080" cy="1188720"/>
          </a:xfrm>
          <a:prstGeom prst="rect">
            <a:avLst/>
          </a:prstGeom>
          <a:noFill/>
          <a:ln/>
        </p:spPr>
        <p:txBody>
          <a:bodyPr wrap="square" lIns="0" tIns="0" rIns="0" bIns="0" rtlCol="0" anchor="t"/>
          <a:lstStyle/>
          <a:p>
            <a:pPr marL="0" indent="0">
              <a:buNone/>
            </a:pPr>
            <a:r>
              <a:rPr lang="en-US" sz="1500" dirty="0">
                <a:solidFill>
                  <a:srgbClr val="1E2761"/>
                </a:solidFill>
                <a:latin typeface="Calibri" pitchFamily="34" charset="0"/>
                <a:ea typeface="Calibri" pitchFamily="34" charset="-122"/>
                <a:cs typeface="Calibri" pitchFamily="34" charset="-120"/>
              </a:rPr>
              <a:t>Sunday tradition: ice cream at Sheikh's after Zuhr, every week without fail.</a:t>
            </a:r>
            <a:endParaRPr lang="en-US" sz="1500" dirty="0"/>
          </a:p>
        </p:txBody>
      </p:sp>
      <p:sp>
        <p:nvSpPr>
          <p:cNvPr id="11" name="Text 9"/>
          <p:cNvSpPr/>
          <p:nvPr/>
        </p:nvSpPr>
        <p:spPr>
          <a:xfrm>
            <a:off x="3474720" y="5486400"/>
            <a:ext cx="5212080" cy="36576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(photo: ice cream cone)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THE ANSWERS</a:t>
            </a:r>
            <a:endParaRPr lang="en-US" sz="1300" dirty="0"/>
          </a:p>
        </p:txBody>
      </p:sp>
      <p:sp>
        <p:nvSpPr>
          <p:cNvPr id="3" name="Text 1"/>
          <p:cNvSpPr/>
          <p:nvPr/>
        </p:nvSpPr>
        <p:spPr>
          <a:xfrm>
            <a:off x="731520" y="914400"/>
            <a:ext cx="1069848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Here is what six ordinary posts revealed about Hamza.</a:t>
            </a:r>
            <a:endParaRPr lang="en-US" sz="2600" dirty="0"/>
          </a:p>
        </p:txBody>
      </p:sp>
      <p:sp>
        <p:nvSpPr>
          <p:cNvPr id="4" name="Shape 2"/>
          <p:cNvSpPr/>
          <p:nvPr/>
        </p:nvSpPr>
        <p:spPr>
          <a:xfrm>
            <a:off x="731520" y="1783080"/>
            <a:ext cx="10698480" cy="566928"/>
          </a:xfrm>
          <a:prstGeom prst="rect">
            <a:avLst/>
          </a:prstGeom>
          <a:solidFill>
            <a:srgbClr val="F4F6FB"/>
          </a:solidFill>
          <a:ln w="9525">
            <a:solidFill>
              <a:srgbClr val="CADCFC"/>
            </a:solidFill>
            <a:prstDash val="solid"/>
          </a:ln>
        </p:spPr>
        <p:txBody>
          <a:bodyPr/>
          <a:lstStyle/>
          <a:p>
            <a:endParaRPr lang="en-US"/>
          </a:p>
        </p:txBody>
      </p:sp>
      <p:sp>
        <p:nvSpPr>
          <p:cNvPr id="5" name="Text 3"/>
          <p:cNvSpPr/>
          <p:nvPr/>
        </p:nvSpPr>
        <p:spPr>
          <a:xfrm>
            <a:off x="914400" y="1783080"/>
            <a:ext cx="5120640" cy="566928"/>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School</a:t>
            </a:r>
            <a:endParaRPr lang="en-US" sz="1400" dirty="0"/>
          </a:p>
        </p:txBody>
      </p:sp>
      <p:sp>
        <p:nvSpPr>
          <p:cNvPr id="6" name="Text 4"/>
          <p:cNvSpPr/>
          <p:nvPr/>
        </p:nvSpPr>
        <p:spPr>
          <a:xfrm>
            <a:off x="6126480" y="1783080"/>
            <a:ext cx="5120640" cy="566928"/>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The uniform crest in post 1</a:t>
            </a:r>
            <a:endParaRPr lang="en-US" sz="1300" dirty="0"/>
          </a:p>
        </p:txBody>
      </p:sp>
      <p:sp>
        <p:nvSpPr>
          <p:cNvPr id="7" name="Shape 5"/>
          <p:cNvSpPr/>
          <p:nvPr/>
        </p:nvSpPr>
        <p:spPr>
          <a:xfrm>
            <a:off x="731520" y="2441448"/>
            <a:ext cx="10698480" cy="566928"/>
          </a:xfrm>
          <a:prstGeom prst="rect">
            <a:avLst/>
          </a:prstGeom>
          <a:solidFill>
            <a:srgbClr val="F4F6FB"/>
          </a:solidFill>
          <a:ln w="9525">
            <a:solidFill>
              <a:srgbClr val="CADCFC"/>
            </a:solidFill>
            <a:prstDash val="solid"/>
          </a:ln>
        </p:spPr>
        <p:txBody>
          <a:bodyPr/>
          <a:lstStyle/>
          <a:p>
            <a:endParaRPr lang="en-US"/>
          </a:p>
        </p:txBody>
      </p:sp>
      <p:sp>
        <p:nvSpPr>
          <p:cNvPr id="8" name="Text 6"/>
          <p:cNvSpPr/>
          <p:nvPr/>
        </p:nvSpPr>
        <p:spPr>
          <a:xfrm>
            <a:off x="914400" y="2441448"/>
            <a:ext cx="5120640" cy="566928"/>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Age and exact birthday</a:t>
            </a:r>
            <a:endParaRPr lang="en-US" sz="1400" dirty="0"/>
          </a:p>
        </p:txBody>
      </p:sp>
      <p:sp>
        <p:nvSpPr>
          <p:cNvPr id="9" name="Text 7"/>
          <p:cNvSpPr/>
          <p:nvPr/>
        </p:nvSpPr>
        <p:spPr>
          <a:xfrm>
            <a:off x="6126480" y="2441448"/>
            <a:ext cx="5120640" cy="566928"/>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The friend's tagged post, post 3</a:t>
            </a:r>
            <a:endParaRPr lang="en-US" sz="1300" dirty="0"/>
          </a:p>
        </p:txBody>
      </p:sp>
      <p:sp>
        <p:nvSpPr>
          <p:cNvPr id="10" name="Shape 8"/>
          <p:cNvSpPr/>
          <p:nvPr/>
        </p:nvSpPr>
        <p:spPr>
          <a:xfrm>
            <a:off x="731520" y="3099816"/>
            <a:ext cx="10698480" cy="566928"/>
          </a:xfrm>
          <a:prstGeom prst="rect">
            <a:avLst/>
          </a:prstGeom>
          <a:solidFill>
            <a:srgbClr val="F4F6FB"/>
          </a:solidFill>
          <a:ln w="9525">
            <a:solidFill>
              <a:srgbClr val="CADCFC"/>
            </a:solidFill>
            <a:prstDash val="solid"/>
          </a:ln>
        </p:spPr>
        <p:txBody>
          <a:bodyPr/>
          <a:lstStyle/>
          <a:p>
            <a:endParaRPr lang="en-US"/>
          </a:p>
        </p:txBody>
      </p:sp>
      <p:sp>
        <p:nvSpPr>
          <p:cNvPr id="11" name="Text 9"/>
          <p:cNvSpPr/>
          <p:nvPr/>
        </p:nvSpPr>
        <p:spPr>
          <a:xfrm>
            <a:off x="914400" y="3099816"/>
            <a:ext cx="5120640" cy="566928"/>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Neighborhood and street</a:t>
            </a:r>
            <a:endParaRPr lang="en-US" sz="1400" dirty="0"/>
          </a:p>
        </p:txBody>
      </p:sp>
      <p:sp>
        <p:nvSpPr>
          <p:cNvPr id="12" name="Text 10"/>
          <p:cNvSpPr/>
          <p:nvPr/>
        </p:nvSpPr>
        <p:spPr>
          <a:xfrm>
            <a:off x="6126480" y="3099816"/>
            <a:ext cx="5120640" cy="566928"/>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The shop sign in the background of post 4</a:t>
            </a:r>
            <a:endParaRPr lang="en-US" sz="1300" dirty="0"/>
          </a:p>
        </p:txBody>
      </p:sp>
      <p:sp>
        <p:nvSpPr>
          <p:cNvPr id="13" name="Shape 11"/>
          <p:cNvSpPr/>
          <p:nvPr/>
        </p:nvSpPr>
        <p:spPr>
          <a:xfrm>
            <a:off x="731520" y="3758184"/>
            <a:ext cx="10698480" cy="566928"/>
          </a:xfrm>
          <a:prstGeom prst="rect">
            <a:avLst/>
          </a:prstGeom>
          <a:solidFill>
            <a:srgbClr val="F4F6FB"/>
          </a:solidFill>
          <a:ln w="9525">
            <a:solidFill>
              <a:srgbClr val="CADCFC"/>
            </a:solidFill>
            <a:prstDash val="solid"/>
          </a:ln>
        </p:spPr>
        <p:txBody>
          <a:bodyPr/>
          <a:lstStyle/>
          <a:p>
            <a:endParaRPr lang="en-US"/>
          </a:p>
        </p:txBody>
      </p:sp>
      <p:sp>
        <p:nvSpPr>
          <p:cNvPr id="14" name="Text 12"/>
          <p:cNvSpPr/>
          <p:nvPr/>
        </p:nvSpPr>
        <p:spPr>
          <a:xfrm>
            <a:off x="914400" y="3758184"/>
            <a:ext cx="5120640" cy="566928"/>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Friday afternoon location and time</a:t>
            </a:r>
            <a:endParaRPr lang="en-US" sz="1400" dirty="0"/>
          </a:p>
        </p:txBody>
      </p:sp>
      <p:sp>
        <p:nvSpPr>
          <p:cNvPr id="15" name="Text 13"/>
          <p:cNvSpPr/>
          <p:nvPr/>
        </p:nvSpPr>
        <p:spPr>
          <a:xfrm>
            <a:off x="6126480" y="3758184"/>
            <a:ext cx="5120640" cy="566928"/>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Post 2, cricket after Asr</a:t>
            </a:r>
            <a:endParaRPr lang="en-US" sz="1300" dirty="0"/>
          </a:p>
        </p:txBody>
      </p:sp>
      <p:sp>
        <p:nvSpPr>
          <p:cNvPr id="16" name="Shape 14"/>
          <p:cNvSpPr/>
          <p:nvPr/>
        </p:nvSpPr>
        <p:spPr>
          <a:xfrm>
            <a:off x="731520" y="4416552"/>
            <a:ext cx="10698480" cy="566928"/>
          </a:xfrm>
          <a:prstGeom prst="rect">
            <a:avLst/>
          </a:prstGeom>
          <a:solidFill>
            <a:srgbClr val="F4F6FB"/>
          </a:solidFill>
          <a:ln w="9525">
            <a:solidFill>
              <a:srgbClr val="CADCFC"/>
            </a:solidFill>
            <a:prstDash val="solid"/>
          </a:ln>
        </p:spPr>
        <p:txBody>
          <a:bodyPr/>
          <a:lstStyle/>
          <a:p>
            <a:endParaRPr lang="en-US"/>
          </a:p>
        </p:txBody>
      </p:sp>
      <p:sp>
        <p:nvSpPr>
          <p:cNvPr id="17" name="Text 15"/>
          <p:cNvSpPr/>
          <p:nvPr/>
        </p:nvSpPr>
        <p:spPr>
          <a:xfrm>
            <a:off x="914400" y="4416552"/>
            <a:ext cx="5120640" cy="566928"/>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Sunday routine, location, and time</a:t>
            </a:r>
            <a:endParaRPr lang="en-US" sz="1400" dirty="0"/>
          </a:p>
        </p:txBody>
      </p:sp>
      <p:sp>
        <p:nvSpPr>
          <p:cNvPr id="18" name="Text 16"/>
          <p:cNvSpPr/>
          <p:nvPr/>
        </p:nvSpPr>
        <p:spPr>
          <a:xfrm>
            <a:off x="6126480" y="4416552"/>
            <a:ext cx="5120640" cy="566928"/>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Post 6, ice cream after Zuhr</a:t>
            </a:r>
            <a:endParaRPr lang="en-US" sz="1300" dirty="0"/>
          </a:p>
        </p:txBody>
      </p:sp>
      <p:sp>
        <p:nvSpPr>
          <p:cNvPr id="19" name="Shape 17"/>
          <p:cNvSpPr/>
          <p:nvPr/>
        </p:nvSpPr>
        <p:spPr>
          <a:xfrm>
            <a:off x="731520" y="5074920"/>
            <a:ext cx="10698480" cy="566928"/>
          </a:xfrm>
          <a:prstGeom prst="rect">
            <a:avLst/>
          </a:prstGeom>
          <a:solidFill>
            <a:srgbClr val="F4F6FB"/>
          </a:solidFill>
          <a:ln w="9525">
            <a:solidFill>
              <a:srgbClr val="CADCFC"/>
            </a:solidFill>
            <a:prstDash val="solid"/>
          </a:ln>
        </p:spPr>
        <p:txBody>
          <a:bodyPr/>
          <a:lstStyle/>
          <a:p>
            <a:endParaRPr lang="en-US"/>
          </a:p>
        </p:txBody>
      </p:sp>
      <p:sp>
        <p:nvSpPr>
          <p:cNvPr id="20" name="Text 18"/>
          <p:cNvSpPr/>
          <p:nvPr/>
        </p:nvSpPr>
        <p:spPr>
          <a:xfrm>
            <a:off x="914400" y="5074920"/>
            <a:ext cx="5120640" cy="566928"/>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A valuable item he owns</a:t>
            </a:r>
            <a:endParaRPr lang="en-US" sz="1400" dirty="0"/>
          </a:p>
        </p:txBody>
      </p:sp>
      <p:sp>
        <p:nvSpPr>
          <p:cNvPr id="21" name="Text 19"/>
          <p:cNvSpPr/>
          <p:nvPr/>
        </p:nvSpPr>
        <p:spPr>
          <a:xfrm>
            <a:off x="6126480" y="5074920"/>
            <a:ext cx="5120640" cy="566928"/>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The phone box in post 5</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1920240"/>
            <a:ext cx="10698480" cy="9144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Hamza never posted his address.</a:t>
            </a:r>
            <a:endParaRPr lang="en-US" sz="3400" dirty="0"/>
          </a:p>
        </p:txBody>
      </p:sp>
      <p:sp>
        <p:nvSpPr>
          <p:cNvPr id="3" name="Text 1"/>
          <p:cNvSpPr/>
          <p:nvPr/>
        </p:nvSpPr>
        <p:spPr>
          <a:xfrm>
            <a:off x="731520" y="2880360"/>
            <a:ext cx="10058400" cy="1097280"/>
          </a:xfrm>
          <a:prstGeom prst="rect">
            <a:avLst/>
          </a:prstGeom>
          <a:noFill/>
          <a:ln/>
        </p:spPr>
        <p:txBody>
          <a:bodyPr wrap="square" lIns="0" tIns="0" rIns="0" bIns="0" rtlCol="0" anchor="ctr"/>
          <a:lstStyle/>
          <a:p>
            <a:pPr marL="0" indent="0">
              <a:buNone/>
            </a:pPr>
            <a:r>
              <a:rPr lang="en-US" sz="1900" dirty="0">
                <a:solidFill>
                  <a:srgbClr val="CADCFC"/>
                </a:solidFill>
                <a:latin typeface="Calibri" pitchFamily="34" charset="0"/>
                <a:ea typeface="Calibri" pitchFamily="34" charset="-122"/>
                <a:cs typeface="Calibri" pitchFamily="34" charset="-120"/>
              </a:rPr>
              <a:t>But six ordinary posts were enough to find his school, his exact birthday, his street, and where he would be twice this week.</a:t>
            </a:r>
            <a:endParaRPr lang="en-US" sz="1900" dirty="0"/>
          </a:p>
        </p:txBody>
      </p:sp>
      <p:sp>
        <p:nvSpPr>
          <p:cNvPr id="4" name="Text 2"/>
          <p:cNvSpPr/>
          <p:nvPr/>
        </p:nvSpPr>
        <p:spPr>
          <a:xfrm>
            <a:off x="731520" y="4297680"/>
            <a:ext cx="10698480" cy="640080"/>
          </a:xfrm>
          <a:prstGeom prst="rect">
            <a:avLst/>
          </a:prstGeom>
          <a:noFill/>
          <a:ln/>
        </p:spPr>
        <p:txBody>
          <a:bodyPr wrap="square" lIns="0" tIns="0" rIns="0" bIns="0" rtlCol="0" anchor="ctr"/>
          <a:lstStyle/>
          <a:p>
            <a:pPr marL="0" indent="0">
              <a:buNone/>
            </a:pPr>
            <a:r>
              <a:rPr lang="en-US" sz="2400" b="1" dirty="0">
                <a:solidFill>
                  <a:srgbClr val="FF6B35"/>
                </a:solidFill>
                <a:latin typeface="Cambria" pitchFamily="34" charset="0"/>
                <a:ea typeface="Cambria" pitchFamily="34" charset="-122"/>
                <a:cs typeface="Cambria" pitchFamily="34" charset="-120"/>
              </a:rPr>
              <a:t>Now think about your own last ten posts.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82296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NOW CHECK YOURSELF</a:t>
            </a:r>
            <a:endParaRPr lang="en-US" sz="1300" dirty="0"/>
          </a:p>
        </p:txBody>
      </p:sp>
      <p:sp>
        <p:nvSpPr>
          <p:cNvPr id="3" name="Text 1"/>
          <p:cNvSpPr/>
          <p:nvPr/>
        </p:nvSpPr>
        <p:spPr>
          <a:xfrm>
            <a:off x="731520" y="914400"/>
            <a:ext cx="10698480" cy="64008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Two quick checks. Do these on your own, not on the projector.</a:t>
            </a:r>
            <a:endParaRPr lang="en-US" sz="2400" dirty="0"/>
          </a:p>
        </p:txBody>
      </p:sp>
      <p:sp>
        <p:nvSpPr>
          <p:cNvPr id="4" name="Shape 2"/>
          <p:cNvSpPr/>
          <p:nvPr/>
        </p:nvSpPr>
        <p:spPr>
          <a:xfrm>
            <a:off x="731520" y="1920240"/>
            <a:ext cx="5120640" cy="3291840"/>
          </a:xfrm>
          <a:prstGeom prst="roundRect">
            <a:avLst>
              <a:gd name="adj" fmla="val 2778"/>
            </a:avLst>
          </a:prstGeom>
          <a:solidFill>
            <a:srgbClr val="F4F6FB"/>
          </a:solidFill>
          <a:ln/>
        </p:spPr>
        <p:txBody>
          <a:bodyPr/>
          <a:lstStyle/>
          <a:p>
            <a:endParaRPr lang="en-US"/>
          </a:p>
        </p:txBody>
      </p:sp>
      <p:sp>
        <p:nvSpPr>
          <p:cNvPr id="5" name="Text 3"/>
          <p:cNvSpPr/>
          <p:nvPr/>
        </p:nvSpPr>
        <p:spPr>
          <a:xfrm>
            <a:off x="1051560" y="2194560"/>
            <a:ext cx="4480560" cy="548640"/>
          </a:xfrm>
          <a:prstGeom prst="rect">
            <a:avLst/>
          </a:prstGeom>
          <a:noFill/>
          <a:ln/>
        </p:spPr>
        <p:txBody>
          <a:bodyPr wrap="square" lIns="0" tIns="0" rIns="0" bIns="0" rtlCol="0" anchor="ctr"/>
          <a:lstStyle/>
          <a:p>
            <a:pPr marL="0" indent="0">
              <a:buNone/>
            </a:pPr>
            <a:r>
              <a:rPr lang="en-US" sz="1900" b="1" dirty="0">
                <a:solidFill>
                  <a:srgbClr val="1E2761"/>
                </a:solidFill>
                <a:latin typeface="Cambria" pitchFamily="34" charset="0"/>
                <a:ea typeface="Cambria" pitchFamily="34" charset="-122"/>
                <a:cs typeface="Cambria" pitchFamily="34" charset="-120"/>
              </a:rPr>
              <a:t>Search your own name</a:t>
            </a:r>
            <a:endParaRPr lang="en-US" sz="1900" dirty="0"/>
          </a:p>
        </p:txBody>
      </p:sp>
      <p:sp>
        <p:nvSpPr>
          <p:cNvPr id="6" name="Text 4"/>
          <p:cNvSpPr/>
          <p:nvPr/>
        </p:nvSpPr>
        <p:spPr>
          <a:xfrm>
            <a:off x="1051560" y="2834640"/>
            <a:ext cx="4480560" cy="2103120"/>
          </a:xfrm>
          <a:prstGeom prst="rect">
            <a:avLst/>
          </a:prstGeom>
          <a:noFill/>
          <a:ln/>
        </p:spPr>
        <p:txBody>
          <a:bodyPr wrap="square" lIns="0" tIns="0" rIns="0" bIns="0" rtlCol="0" anchor="ctr"/>
          <a:lstStyle/>
          <a:p>
            <a:pPr marL="0" indent="0">
              <a:buNone/>
            </a:pPr>
            <a:r>
              <a:rPr lang="en-US" sz="1500" dirty="0">
                <a:solidFill>
                  <a:srgbClr val="1E2761"/>
                </a:solidFill>
                <a:latin typeface="Calibri" pitchFamily="34" charset="0"/>
                <a:ea typeface="Calibri" pitchFamily="34" charset="-122"/>
                <a:cs typeface="Calibri" pitchFamily="34" charset="-120"/>
              </a:rPr>
              <a:t>I will search my own name first, live, so you see what shows up for me. Then search your own name on your phone. Whatever comes up is what a university or an employer would see.</a:t>
            </a:r>
            <a:endParaRPr lang="en-US" sz="1500" dirty="0"/>
          </a:p>
        </p:txBody>
      </p:sp>
      <p:sp>
        <p:nvSpPr>
          <p:cNvPr id="7" name="Shape 5"/>
          <p:cNvSpPr/>
          <p:nvPr/>
        </p:nvSpPr>
        <p:spPr>
          <a:xfrm>
            <a:off x="6309360" y="1920240"/>
            <a:ext cx="5120640" cy="3291840"/>
          </a:xfrm>
          <a:prstGeom prst="roundRect">
            <a:avLst>
              <a:gd name="adj" fmla="val 2778"/>
            </a:avLst>
          </a:prstGeom>
          <a:solidFill>
            <a:srgbClr val="F4F6FB"/>
          </a:solidFill>
          <a:ln/>
        </p:spPr>
        <p:txBody>
          <a:bodyPr/>
          <a:lstStyle/>
          <a:p>
            <a:endParaRPr lang="en-US"/>
          </a:p>
        </p:txBody>
      </p:sp>
      <p:sp>
        <p:nvSpPr>
          <p:cNvPr id="8" name="Text 6"/>
          <p:cNvSpPr/>
          <p:nvPr/>
        </p:nvSpPr>
        <p:spPr>
          <a:xfrm>
            <a:off x="6629400" y="2194560"/>
            <a:ext cx="4480560" cy="548640"/>
          </a:xfrm>
          <a:prstGeom prst="rect">
            <a:avLst/>
          </a:prstGeom>
          <a:noFill/>
          <a:ln/>
        </p:spPr>
        <p:txBody>
          <a:bodyPr wrap="square" lIns="0" tIns="0" rIns="0" bIns="0" rtlCol="0" anchor="ctr"/>
          <a:lstStyle/>
          <a:p>
            <a:pPr marL="0" indent="0">
              <a:buNone/>
            </a:pPr>
            <a:r>
              <a:rPr lang="en-US" sz="1900" b="1" dirty="0">
                <a:solidFill>
                  <a:srgbClr val="1E2761"/>
                </a:solidFill>
                <a:latin typeface="Cambria" pitchFamily="34" charset="0"/>
                <a:ea typeface="Cambria" pitchFamily="34" charset="-122"/>
                <a:cs typeface="Cambria" pitchFamily="34" charset="-120"/>
              </a:rPr>
              <a:t>haveibeenpwned.com</a:t>
            </a:r>
            <a:endParaRPr lang="en-US" sz="1900" dirty="0"/>
          </a:p>
        </p:txBody>
      </p:sp>
      <p:sp>
        <p:nvSpPr>
          <p:cNvPr id="9" name="Text 7"/>
          <p:cNvSpPr/>
          <p:nvPr/>
        </p:nvSpPr>
        <p:spPr>
          <a:xfrm>
            <a:off x="6629400" y="2834640"/>
            <a:ext cx="4480560" cy="2103120"/>
          </a:xfrm>
          <a:prstGeom prst="rect">
            <a:avLst/>
          </a:prstGeom>
          <a:noFill/>
          <a:ln/>
        </p:spPr>
        <p:txBody>
          <a:bodyPr wrap="square" lIns="0" tIns="0" rIns="0" bIns="0" rtlCol="0" anchor="ctr"/>
          <a:lstStyle/>
          <a:p>
            <a:pPr marL="0" indent="0">
              <a:buNone/>
            </a:pPr>
            <a:r>
              <a:rPr lang="en-US" sz="1500" dirty="0">
                <a:solidFill>
                  <a:srgbClr val="1E2761"/>
                </a:solidFill>
                <a:latin typeface="Calibri" pitchFamily="34" charset="0"/>
                <a:ea typeface="Calibri" pitchFamily="34" charset="-122"/>
                <a:cs typeface="Calibri" pitchFamily="34" charset="-120"/>
              </a:rPr>
              <a:t>I will test an old email of mine to show a real data breach. Then check your own email on your own, not out loud.</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2103120"/>
            <a:ext cx="10698480" cy="182880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Can you trust this,</a:t>
            </a:r>
            <a:endParaRPr lang="en-US" sz="4200" dirty="0"/>
          </a:p>
          <a:p>
            <a:pPr marL="0" indent="0">
              <a:buNone/>
            </a:pPr>
            <a:r>
              <a:rPr lang="en-US" sz="4200" b="1" dirty="0">
                <a:solidFill>
                  <a:srgbClr val="FFFFFF"/>
                </a:solidFill>
                <a:latin typeface="Cambria" pitchFamily="34" charset="0"/>
                <a:ea typeface="Cambria" pitchFamily="34" charset="-122"/>
                <a:cs typeface="Cambria" pitchFamily="34" charset="-120"/>
              </a:rPr>
              <a:t>and how do you check?</a:t>
            </a:r>
            <a:endParaRPr lang="en-US" sz="4200" dirty="0"/>
          </a:p>
        </p:txBody>
      </p:sp>
      <p:sp>
        <p:nvSpPr>
          <p:cNvPr id="3" name="Text 1"/>
          <p:cNvSpPr/>
          <p:nvPr/>
        </p:nvSpPr>
        <p:spPr>
          <a:xfrm>
            <a:off x="731520" y="4114800"/>
            <a:ext cx="10058400" cy="109728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Today it was Hamza's footprint. This week we will also talk about AI, deepfakes, and misinformation. Every one of those topics comes back to this same question.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1785</Words>
  <Application>Microsoft Office PowerPoint</Application>
  <PresentationFormat>Widescreen</PresentationFormat>
  <Paragraphs>155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Abdul Ahad</cp:lastModifiedBy>
  <cp:revision>2</cp:revision>
  <dcterms:created xsi:type="dcterms:W3CDTF">2026-07-19T14:27:16Z</dcterms:created>
  <dcterms:modified xsi:type="dcterms:W3CDTF">2026-07-20T03:33:34Z</dcterms:modified>
</cp:coreProperties>
</file>